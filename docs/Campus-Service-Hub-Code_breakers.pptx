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Assistant" charset="1" panose="00000500000000000000"/>
      <p:regular r:id="rId18"/>
    </p:embeddedFont>
    <p:embeddedFont>
      <p:font typeface="Roca One" charset="1" panose="00000500000000000000"/>
      <p:regular r:id="rId19"/>
    </p:embeddedFont>
    <p:embeddedFont>
      <p:font typeface="Assistant Bold" charset="1" panose="000008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10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597" t="0" r="-15597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35271" y="4565874"/>
            <a:ext cx="5902101" cy="7974702"/>
            <a:chOff x="0" y="0"/>
            <a:chExt cx="7869467" cy="1063293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869467" cy="7869467"/>
            </a:xfrm>
            <a:custGeom>
              <a:avLst/>
              <a:gdLst/>
              <a:ahLst/>
              <a:cxnLst/>
              <a:rect r="r" b="b" t="t" l="l"/>
              <a:pathLst>
                <a:path h="7869467" w="7869467">
                  <a:moveTo>
                    <a:pt x="0" y="0"/>
                  </a:moveTo>
                  <a:lnTo>
                    <a:pt x="7869467" y="0"/>
                  </a:lnTo>
                  <a:lnTo>
                    <a:pt x="7869467" y="7869467"/>
                  </a:lnTo>
                  <a:lnTo>
                    <a:pt x="0" y="78694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313695" y="6497867"/>
              <a:ext cx="7555772" cy="4135068"/>
            </a:xfrm>
            <a:custGeom>
              <a:avLst/>
              <a:gdLst/>
              <a:ahLst/>
              <a:cxnLst/>
              <a:rect r="r" b="b" t="t" l="l"/>
              <a:pathLst>
                <a:path h="4135068" w="7555772">
                  <a:moveTo>
                    <a:pt x="0" y="0"/>
                  </a:moveTo>
                  <a:lnTo>
                    <a:pt x="7555772" y="0"/>
                  </a:lnTo>
                  <a:lnTo>
                    <a:pt x="7555772" y="4135069"/>
                  </a:lnTo>
                  <a:lnTo>
                    <a:pt x="0" y="4135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-10800000">
            <a:off x="12385899" y="-2268953"/>
            <a:ext cx="5902101" cy="7974702"/>
            <a:chOff x="0" y="0"/>
            <a:chExt cx="7869467" cy="1063293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869467" cy="7869467"/>
            </a:xfrm>
            <a:custGeom>
              <a:avLst/>
              <a:gdLst/>
              <a:ahLst/>
              <a:cxnLst/>
              <a:rect r="r" b="b" t="t" l="l"/>
              <a:pathLst>
                <a:path h="7869467" w="7869467">
                  <a:moveTo>
                    <a:pt x="0" y="0"/>
                  </a:moveTo>
                  <a:lnTo>
                    <a:pt x="7869467" y="0"/>
                  </a:lnTo>
                  <a:lnTo>
                    <a:pt x="7869467" y="7869467"/>
                  </a:lnTo>
                  <a:lnTo>
                    <a:pt x="0" y="78694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313695" y="6497867"/>
              <a:ext cx="7555772" cy="4135068"/>
            </a:xfrm>
            <a:custGeom>
              <a:avLst/>
              <a:gdLst/>
              <a:ahLst/>
              <a:cxnLst/>
              <a:rect r="r" b="b" t="t" l="l"/>
              <a:pathLst>
                <a:path h="4135068" w="7555772">
                  <a:moveTo>
                    <a:pt x="0" y="0"/>
                  </a:moveTo>
                  <a:lnTo>
                    <a:pt x="7555772" y="0"/>
                  </a:lnTo>
                  <a:lnTo>
                    <a:pt x="7555772" y="4135069"/>
                  </a:lnTo>
                  <a:lnTo>
                    <a:pt x="0" y="4135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-2672315" y="-776716"/>
            <a:ext cx="4054948" cy="4114800"/>
          </a:xfrm>
          <a:custGeom>
            <a:avLst/>
            <a:gdLst/>
            <a:ahLst/>
            <a:cxnLst/>
            <a:rect r="r" b="b" t="t" l="l"/>
            <a:pathLst>
              <a:path h="4114800" w="4054948">
                <a:moveTo>
                  <a:pt x="0" y="0"/>
                </a:moveTo>
                <a:lnTo>
                  <a:pt x="4054948" y="0"/>
                </a:lnTo>
                <a:lnTo>
                  <a:pt x="405494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true" rot="0">
            <a:off x="16884370" y="7044598"/>
            <a:ext cx="4054948" cy="4114800"/>
          </a:xfrm>
          <a:custGeom>
            <a:avLst/>
            <a:gdLst/>
            <a:ahLst/>
            <a:cxnLst/>
            <a:rect r="r" b="b" t="t" l="l"/>
            <a:pathLst>
              <a:path h="4114800" w="4054948">
                <a:moveTo>
                  <a:pt x="4054949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054949" y="0"/>
                </a:lnTo>
                <a:lnTo>
                  <a:pt x="4054949" y="411480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9263577" y="8619900"/>
            <a:ext cx="7411367" cy="898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3500" spc="52">
                <a:solidFill>
                  <a:srgbClr val="0D1C38"/>
                </a:solidFill>
                <a:latin typeface="Assistant"/>
                <a:ea typeface="Assistant"/>
                <a:cs typeface="Assistant"/>
                <a:sym typeface="Assistant"/>
              </a:rPr>
              <a:t>IT112 – W</a:t>
            </a:r>
            <a:r>
              <a:rPr lang="en-US" sz="3500" spc="52">
                <a:solidFill>
                  <a:srgbClr val="0D1C38"/>
                </a:solidFill>
                <a:latin typeface="Assistant"/>
                <a:ea typeface="Assistant"/>
                <a:cs typeface="Assistant"/>
                <a:sym typeface="Assistant"/>
              </a:rPr>
              <a:t>eb Systems Technologies | BSIT-2B 2nd Sem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116324" y="4149138"/>
            <a:ext cx="13478037" cy="2581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0"/>
              </a:lnSpc>
            </a:pPr>
            <a:r>
              <a:rPr lang="en-US" sz="15000">
                <a:solidFill>
                  <a:srgbClr val="0D1C38"/>
                </a:solidFill>
                <a:latin typeface="Roca One"/>
                <a:ea typeface="Roca One"/>
                <a:cs typeface="Roca One"/>
                <a:sym typeface="Roca One"/>
              </a:rPr>
              <a:t>SERVICE HUB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116324" y="2619053"/>
            <a:ext cx="9155271" cy="2106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244"/>
              </a:lnSpc>
            </a:pPr>
            <a:r>
              <a:rPr lang="en-US" sz="12317">
                <a:solidFill>
                  <a:srgbClr val="0D1C38"/>
                </a:solidFill>
                <a:latin typeface="Roca One"/>
                <a:ea typeface="Roca One"/>
                <a:cs typeface="Roca One"/>
                <a:sym typeface="Roca One"/>
              </a:rPr>
              <a:t>CAMPUS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116324" y="1347359"/>
            <a:ext cx="5077923" cy="4372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1"/>
              </a:lnSpc>
            </a:pPr>
            <a:r>
              <a:rPr lang="en-US" sz="3341" spc="50">
                <a:solidFill>
                  <a:srgbClr val="0D1C38"/>
                </a:solidFill>
                <a:latin typeface="Assistant"/>
                <a:ea typeface="Assistant"/>
                <a:cs typeface="Assistant"/>
                <a:sym typeface="Assistant"/>
              </a:rPr>
              <a:t>Cod</a:t>
            </a:r>
            <a:r>
              <a:rPr lang="en-US" sz="3341" spc="50">
                <a:solidFill>
                  <a:srgbClr val="0D1C38"/>
                </a:solidFill>
                <a:latin typeface="Assistant"/>
                <a:ea typeface="Assistant"/>
                <a:cs typeface="Assistant"/>
                <a:sym typeface="Assistant"/>
              </a:rPr>
              <a:t>e&lt;breakers&gt;  | 2026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141254" y="6545104"/>
            <a:ext cx="6244645" cy="4372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1"/>
              </a:lnSpc>
            </a:pPr>
            <a:r>
              <a:rPr lang="en-US" sz="3341" spc="50">
                <a:solidFill>
                  <a:srgbClr val="0D1C38"/>
                </a:solidFill>
                <a:latin typeface="Assistant"/>
                <a:ea typeface="Assistant"/>
                <a:cs typeface="Assistant"/>
                <a:sym typeface="Assistant"/>
              </a:rPr>
              <a:t>A Stud</a:t>
            </a:r>
            <a:r>
              <a:rPr lang="en-US" sz="3341" spc="50">
                <a:solidFill>
                  <a:srgbClr val="0D1C38"/>
                </a:solidFill>
                <a:latin typeface="Assistant"/>
                <a:ea typeface="Assistant"/>
                <a:cs typeface="Assistant"/>
                <a:sym typeface="Assistant"/>
              </a:rPr>
              <a:t>ent Guide and Walkthrough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5597" t="0" r="-15597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9443" y="1028700"/>
            <a:ext cx="16229114" cy="8229600"/>
            <a:chOff x="0" y="0"/>
            <a:chExt cx="4274335" cy="21674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4334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334">
                  <a:moveTo>
                    <a:pt x="0" y="0"/>
                  </a:moveTo>
                  <a:lnTo>
                    <a:pt x="4274334" y="0"/>
                  </a:lnTo>
                  <a:lnTo>
                    <a:pt x="4274334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57150"/>
              <a:ext cx="4274335" cy="21103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1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true" flipV="true" rot="0">
            <a:off x="16310046" y="-2312817"/>
            <a:ext cx="8623491" cy="8750775"/>
          </a:xfrm>
          <a:custGeom>
            <a:avLst/>
            <a:gdLst/>
            <a:ahLst/>
            <a:cxnLst/>
            <a:rect r="r" b="b" t="t" l="l"/>
            <a:pathLst>
              <a:path h="8750775" w="8623491">
                <a:moveTo>
                  <a:pt x="8623491" y="8750775"/>
                </a:moveTo>
                <a:lnTo>
                  <a:pt x="0" y="8750775"/>
                </a:lnTo>
                <a:lnTo>
                  <a:pt x="0" y="0"/>
                </a:lnTo>
                <a:lnTo>
                  <a:pt x="8623491" y="0"/>
                </a:lnTo>
                <a:lnTo>
                  <a:pt x="8623491" y="8750775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6630940" y="3864288"/>
            <a:ext cx="8623491" cy="8750775"/>
          </a:xfrm>
          <a:custGeom>
            <a:avLst/>
            <a:gdLst/>
            <a:ahLst/>
            <a:cxnLst/>
            <a:rect r="r" b="b" t="t" l="l"/>
            <a:pathLst>
              <a:path h="8750775" w="8623491">
                <a:moveTo>
                  <a:pt x="0" y="0"/>
                </a:moveTo>
                <a:lnTo>
                  <a:pt x="8623491" y="0"/>
                </a:lnTo>
                <a:lnTo>
                  <a:pt x="8623491" y="8750775"/>
                </a:lnTo>
                <a:lnTo>
                  <a:pt x="0" y="87507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0800000">
            <a:off x="6125872" y="9311584"/>
            <a:ext cx="6036256" cy="3303478"/>
          </a:xfrm>
          <a:custGeom>
            <a:avLst/>
            <a:gdLst/>
            <a:ahLst/>
            <a:cxnLst/>
            <a:rect r="r" b="b" t="t" l="l"/>
            <a:pathLst>
              <a:path h="3303478" w="6036256">
                <a:moveTo>
                  <a:pt x="0" y="0"/>
                </a:moveTo>
                <a:lnTo>
                  <a:pt x="6036256" y="0"/>
                </a:lnTo>
                <a:lnTo>
                  <a:pt x="6036256" y="3303479"/>
                </a:lnTo>
                <a:lnTo>
                  <a:pt x="0" y="330347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961490" y="3797613"/>
            <a:ext cx="10920211" cy="4631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20"/>
              </a:lnSpc>
            </a:pPr>
            <a:r>
              <a:rPr lang="en-US" sz="3300" spc="49">
                <a:solidFill>
                  <a:srgbClr val="0E182F"/>
                </a:solidFill>
                <a:latin typeface="Assistant"/>
                <a:ea typeface="Assistant"/>
                <a:cs typeface="Assistant"/>
                <a:sym typeface="Assistant"/>
              </a:rPr>
              <a:t>  Ca</a:t>
            </a:r>
            <a:r>
              <a:rPr lang="en-US" sz="3300" spc="49">
                <a:solidFill>
                  <a:srgbClr val="0E182F"/>
                </a:solidFill>
                <a:latin typeface="Assistant"/>
                <a:ea typeface="Assistant"/>
                <a:cs typeface="Assistant"/>
                <a:sym typeface="Assistant"/>
              </a:rPr>
              <a:t>mpus Hub is an interactive web-based guide proposed for Bicol University Polangui that serves as a centralized directory for campus establishments and services. </a:t>
            </a:r>
          </a:p>
          <a:p>
            <a:pPr algn="just">
              <a:lnSpc>
                <a:spcPts val="4620"/>
              </a:lnSpc>
            </a:pPr>
            <a:r>
              <a:rPr lang="en-US" sz="3300" spc="49">
                <a:solidFill>
                  <a:srgbClr val="0E182F"/>
                </a:solidFill>
                <a:latin typeface="Assistant"/>
                <a:ea typeface="Assistant"/>
                <a:cs typeface="Assistant"/>
                <a:sym typeface="Assistant"/>
              </a:rPr>
              <a:t>     The platform helps students easily access facilities, locate businesses, and receive real-time campus information. It also supports Entrepreneurship student businesses by providing location-based and accessible digital services, making student life more efficient and convenient.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486682" y="1936443"/>
            <a:ext cx="7314637" cy="162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7500">
                <a:solidFill>
                  <a:srgbClr val="0E182F"/>
                </a:solidFill>
                <a:latin typeface="Roca One"/>
                <a:ea typeface="Roca One"/>
                <a:cs typeface="Roca One"/>
                <a:sym typeface="Roca One"/>
              </a:rPr>
              <a:t>Project Introduction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5597" t="0" r="-15597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9443" y="1028700"/>
            <a:ext cx="16229114" cy="8229600"/>
            <a:chOff x="0" y="0"/>
            <a:chExt cx="4274335" cy="21674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4334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334">
                  <a:moveTo>
                    <a:pt x="0" y="0"/>
                  </a:moveTo>
                  <a:lnTo>
                    <a:pt x="4274334" y="0"/>
                  </a:lnTo>
                  <a:lnTo>
                    <a:pt x="4274334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57150"/>
              <a:ext cx="4274335" cy="21103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1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true" flipV="true" rot="0">
            <a:off x="16310046" y="-2312817"/>
            <a:ext cx="8623491" cy="8750775"/>
          </a:xfrm>
          <a:custGeom>
            <a:avLst/>
            <a:gdLst/>
            <a:ahLst/>
            <a:cxnLst/>
            <a:rect r="r" b="b" t="t" l="l"/>
            <a:pathLst>
              <a:path h="8750775" w="8623491">
                <a:moveTo>
                  <a:pt x="8623491" y="8750775"/>
                </a:moveTo>
                <a:lnTo>
                  <a:pt x="0" y="8750775"/>
                </a:lnTo>
                <a:lnTo>
                  <a:pt x="0" y="0"/>
                </a:lnTo>
                <a:lnTo>
                  <a:pt x="8623491" y="0"/>
                </a:lnTo>
                <a:lnTo>
                  <a:pt x="8623491" y="8750775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6630940" y="3864288"/>
            <a:ext cx="8623491" cy="8750775"/>
          </a:xfrm>
          <a:custGeom>
            <a:avLst/>
            <a:gdLst/>
            <a:ahLst/>
            <a:cxnLst/>
            <a:rect r="r" b="b" t="t" l="l"/>
            <a:pathLst>
              <a:path h="8750775" w="8623491">
                <a:moveTo>
                  <a:pt x="0" y="0"/>
                </a:moveTo>
                <a:lnTo>
                  <a:pt x="8623491" y="0"/>
                </a:lnTo>
                <a:lnTo>
                  <a:pt x="8623491" y="8750775"/>
                </a:lnTo>
                <a:lnTo>
                  <a:pt x="0" y="87507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0800000">
            <a:off x="6125872" y="9311584"/>
            <a:ext cx="6036256" cy="3303478"/>
          </a:xfrm>
          <a:custGeom>
            <a:avLst/>
            <a:gdLst/>
            <a:ahLst/>
            <a:cxnLst/>
            <a:rect r="r" b="b" t="t" l="l"/>
            <a:pathLst>
              <a:path h="3303478" w="6036256">
                <a:moveTo>
                  <a:pt x="0" y="0"/>
                </a:moveTo>
                <a:lnTo>
                  <a:pt x="6036256" y="0"/>
                </a:lnTo>
                <a:lnTo>
                  <a:pt x="6036256" y="3303479"/>
                </a:lnTo>
                <a:lnTo>
                  <a:pt x="0" y="330347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529056" y="3428365"/>
            <a:ext cx="3340656" cy="2277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b="true" sz="3499" spc="52">
                <a:solidFill>
                  <a:srgbClr val="0E182F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&lt;/&gt; Frontend</a:t>
            </a:r>
          </a:p>
          <a:p>
            <a:pPr algn="ctr">
              <a:lnSpc>
                <a:spcPts val="4480"/>
              </a:lnSpc>
            </a:pPr>
            <a:r>
              <a:rPr lang="en-US" sz="3200" spc="48">
                <a:solidFill>
                  <a:srgbClr val="0E182F"/>
                </a:solidFill>
                <a:latin typeface="Assistant"/>
                <a:ea typeface="Assistant"/>
                <a:cs typeface="Assistant"/>
                <a:sym typeface="Assistant"/>
              </a:rPr>
              <a:t>HTM</a:t>
            </a:r>
            <a:r>
              <a:rPr lang="en-US" sz="3200" spc="48">
                <a:solidFill>
                  <a:srgbClr val="0E182F"/>
                </a:solidFill>
                <a:latin typeface="Assistant"/>
                <a:ea typeface="Assistant"/>
                <a:cs typeface="Assistant"/>
                <a:sym typeface="Assistant"/>
              </a:rPr>
              <a:t>L5, CSS3</a:t>
            </a:r>
          </a:p>
          <a:p>
            <a:pPr algn="ctr">
              <a:lnSpc>
                <a:spcPts val="4480"/>
              </a:lnSpc>
            </a:pPr>
            <a:r>
              <a:rPr lang="en-US" sz="3200" spc="48">
                <a:solidFill>
                  <a:srgbClr val="0E182F"/>
                </a:solidFill>
                <a:latin typeface="Assistant"/>
                <a:ea typeface="Assistant"/>
                <a:cs typeface="Assistant"/>
                <a:sym typeface="Assistant"/>
              </a:rPr>
              <a:t>Tailwind CSS</a:t>
            </a:r>
          </a:p>
          <a:p>
            <a:pPr algn="ctr">
              <a:lnSpc>
                <a:spcPts val="4480"/>
              </a:lnSpc>
            </a:pPr>
            <a:r>
              <a:rPr lang="en-US" sz="3200" spc="48">
                <a:solidFill>
                  <a:srgbClr val="0E182F"/>
                </a:solidFill>
                <a:latin typeface="Assistant"/>
                <a:ea typeface="Assistant"/>
                <a:cs typeface="Assistant"/>
                <a:sym typeface="Assistant"/>
              </a:rPr>
              <a:t>JavaScript (ES6+)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486682" y="1670576"/>
            <a:ext cx="7314637" cy="162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7500">
                <a:solidFill>
                  <a:srgbClr val="0E182F"/>
                </a:solidFill>
                <a:latin typeface="Roca One"/>
                <a:ea typeface="Roca One"/>
                <a:cs typeface="Roca One"/>
                <a:sym typeface="Roca One"/>
              </a:rPr>
              <a:t>Tech</a:t>
            </a:r>
            <a:r>
              <a:rPr lang="en-US" sz="7500">
                <a:solidFill>
                  <a:srgbClr val="0E182F"/>
                </a:solidFill>
                <a:latin typeface="Roca One"/>
                <a:ea typeface="Roca One"/>
                <a:cs typeface="Roca One"/>
                <a:sym typeface="Roca One"/>
              </a:rPr>
              <a:t>nology Stack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480971" y="3428365"/>
            <a:ext cx="3340656" cy="2277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b="true" sz="3499" spc="52">
                <a:solidFill>
                  <a:srgbClr val="0E182F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⚙️ Backend</a:t>
            </a:r>
          </a:p>
          <a:p>
            <a:pPr algn="ctr">
              <a:lnSpc>
                <a:spcPts val="4480"/>
              </a:lnSpc>
            </a:pPr>
            <a:r>
              <a:rPr lang="en-US" sz="3200" spc="48">
                <a:solidFill>
                  <a:srgbClr val="0E182F"/>
                </a:solidFill>
                <a:latin typeface="Assistant"/>
                <a:ea typeface="Assistant"/>
                <a:cs typeface="Assistant"/>
                <a:sym typeface="Assistant"/>
              </a:rPr>
              <a:t>P</a:t>
            </a:r>
            <a:r>
              <a:rPr lang="en-US" sz="3200" spc="48">
                <a:solidFill>
                  <a:srgbClr val="0E182F"/>
                </a:solidFill>
                <a:latin typeface="Assistant"/>
                <a:ea typeface="Assistant"/>
                <a:cs typeface="Assistant"/>
                <a:sym typeface="Assistant"/>
              </a:rPr>
              <a:t>HP</a:t>
            </a:r>
            <a:r>
              <a:rPr lang="en-US" sz="3200" spc="48">
                <a:solidFill>
                  <a:srgbClr val="0E182F"/>
                </a:solidFill>
                <a:latin typeface="Assistant"/>
                <a:ea typeface="Assistant"/>
                <a:cs typeface="Assistant"/>
                <a:sym typeface="Assistant"/>
              </a:rPr>
              <a:t> / Node.js</a:t>
            </a:r>
          </a:p>
          <a:p>
            <a:pPr algn="ctr">
              <a:lnSpc>
                <a:spcPts val="4480"/>
              </a:lnSpc>
            </a:pPr>
            <a:r>
              <a:rPr lang="en-US" sz="3200" spc="48">
                <a:solidFill>
                  <a:srgbClr val="0E182F"/>
                </a:solidFill>
                <a:latin typeface="Assistant"/>
                <a:ea typeface="Assistant"/>
                <a:cs typeface="Assistant"/>
                <a:sym typeface="Assistant"/>
              </a:rPr>
              <a:t>Express Framework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162128" y="3428365"/>
            <a:ext cx="3340656" cy="1715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sz="3499" spc="52">
                <a:solidFill>
                  <a:srgbClr val="0E182F"/>
                </a:solidFill>
                <a:latin typeface="Assistant"/>
                <a:ea typeface="Assistant"/>
                <a:cs typeface="Assistant"/>
                <a:sym typeface="Assistant"/>
              </a:rPr>
              <a:t>🗄️ </a:t>
            </a:r>
            <a:r>
              <a:rPr lang="en-US" b="true" sz="3499" spc="52">
                <a:solidFill>
                  <a:srgbClr val="0E182F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Database</a:t>
            </a:r>
          </a:p>
          <a:p>
            <a:pPr algn="ctr">
              <a:lnSpc>
                <a:spcPts val="4480"/>
              </a:lnSpc>
            </a:pPr>
            <a:r>
              <a:rPr lang="en-US" sz="3200" spc="48">
                <a:solidFill>
                  <a:srgbClr val="0E182F"/>
                </a:solidFill>
                <a:latin typeface="Assistant"/>
                <a:ea typeface="Assistant"/>
                <a:cs typeface="Assistant"/>
                <a:sym typeface="Assistant"/>
              </a:rPr>
              <a:t>MySQ</a:t>
            </a:r>
            <a:r>
              <a:rPr lang="en-US" sz="3200" spc="48">
                <a:solidFill>
                  <a:srgbClr val="0E182F"/>
                </a:solidFill>
                <a:latin typeface="Assistant"/>
                <a:ea typeface="Assistant"/>
                <a:cs typeface="Assistant"/>
                <a:sym typeface="Assistant"/>
              </a:rPr>
              <a:t>L / PostgreSQL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529056" y="6524540"/>
            <a:ext cx="3614249" cy="1715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b="true" sz="3499" spc="52">
                <a:solidFill>
                  <a:srgbClr val="0E182F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🤖 AI Intergation</a:t>
            </a:r>
          </a:p>
          <a:p>
            <a:pPr algn="ctr">
              <a:lnSpc>
                <a:spcPts val="4480"/>
              </a:lnSpc>
            </a:pPr>
            <a:r>
              <a:rPr lang="en-US" sz="3200" spc="48">
                <a:solidFill>
                  <a:srgbClr val="0E182F"/>
                </a:solidFill>
                <a:latin typeface="Assistant"/>
                <a:ea typeface="Assistant"/>
                <a:cs typeface="Assistant"/>
                <a:sym typeface="Assistant"/>
              </a:rPr>
              <a:t>OpenAI</a:t>
            </a:r>
            <a:r>
              <a:rPr lang="en-US" sz="3200" spc="48">
                <a:solidFill>
                  <a:srgbClr val="0E182F"/>
                </a:solidFill>
                <a:latin typeface="Assistant"/>
                <a:ea typeface="Assistant"/>
                <a:cs typeface="Assistant"/>
                <a:sym typeface="Assistant"/>
              </a:rPr>
              <a:t> API</a:t>
            </a:r>
          </a:p>
          <a:p>
            <a:pPr algn="ctr">
              <a:lnSpc>
                <a:spcPts val="4480"/>
              </a:lnSpc>
            </a:pPr>
            <a:r>
              <a:rPr lang="en-US" sz="3200" spc="48">
                <a:solidFill>
                  <a:srgbClr val="0E182F"/>
                </a:solidFill>
                <a:latin typeface="Assistant"/>
                <a:ea typeface="Assistant"/>
                <a:cs typeface="Assistant"/>
                <a:sym typeface="Assistant"/>
              </a:rPr>
              <a:t>Custom NLP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706226" y="6524540"/>
            <a:ext cx="3340656" cy="1715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sz="3499" spc="52">
                <a:solidFill>
                  <a:srgbClr val="0E182F"/>
                </a:solidFill>
                <a:latin typeface="Assistant"/>
                <a:ea typeface="Assistant"/>
                <a:cs typeface="Assistant"/>
                <a:sym typeface="Assistant"/>
              </a:rPr>
              <a:t>🗺️ </a:t>
            </a:r>
            <a:r>
              <a:rPr lang="en-US" b="true" sz="3499" spc="52">
                <a:solidFill>
                  <a:srgbClr val="0E182F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Mapping</a:t>
            </a:r>
          </a:p>
          <a:p>
            <a:pPr algn="ctr">
              <a:lnSpc>
                <a:spcPts val="4480"/>
              </a:lnSpc>
            </a:pPr>
            <a:r>
              <a:rPr lang="en-US" sz="3200" spc="48">
                <a:solidFill>
                  <a:srgbClr val="0E182F"/>
                </a:solidFill>
                <a:latin typeface="Assistant"/>
                <a:ea typeface="Assistant"/>
                <a:cs typeface="Assistant"/>
                <a:sym typeface="Assistant"/>
              </a:rPr>
              <a:t>Leaflet.js</a:t>
            </a:r>
          </a:p>
          <a:p>
            <a:pPr algn="ctr">
              <a:lnSpc>
                <a:spcPts val="4480"/>
              </a:lnSpc>
            </a:pPr>
            <a:r>
              <a:rPr lang="en-US" sz="3200" spc="48">
                <a:solidFill>
                  <a:srgbClr val="0E182F"/>
                </a:solidFill>
                <a:latin typeface="Assistant"/>
                <a:ea typeface="Assistant"/>
                <a:cs typeface="Assistant"/>
                <a:sym typeface="Assistant"/>
              </a:rPr>
              <a:t>Google Maps API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162128" y="6661795"/>
            <a:ext cx="4079358" cy="1153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sz="3499" spc="52">
                <a:solidFill>
                  <a:srgbClr val="0E182F"/>
                </a:solidFill>
                <a:latin typeface="Assistant"/>
                <a:ea typeface="Assistant"/>
                <a:cs typeface="Assistant"/>
                <a:sym typeface="Assistant"/>
              </a:rPr>
              <a:t>🔄 </a:t>
            </a:r>
            <a:r>
              <a:rPr lang="en-US" b="true" sz="3499" spc="52">
                <a:solidFill>
                  <a:srgbClr val="0E182F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Version Control</a:t>
            </a:r>
          </a:p>
          <a:p>
            <a:pPr algn="ctr">
              <a:lnSpc>
                <a:spcPts val="4480"/>
              </a:lnSpc>
            </a:pPr>
            <a:r>
              <a:rPr lang="en-US" sz="3200" spc="48">
                <a:solidFill>
                  <a:srgbClr val="0E182F"/>
                </a:solidFill>
                <a:latin typeface="Assistant"/>
                <a:ea typeface="Assistant"/>
                <a:cs typeface="Assistant"/>
                <a:sym typeface="Assistant"/>
              </a:rPr>
              <a:t>Git &amp; GitHub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5597" t="0" r="-15597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9443" y="1028700"/>
            <a:ext cx="16229114" cy="8229600"/>
            <a:chOff x="0" y="0"/>
            <a:chExt cx="4274335" cy="21674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4334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334">
                  <a:moveTo>
                    <a:pt x="0" y="0"/>
                  </a:moveTo>
                  <a:lnTo>
                    <a:pt x="4274334" y="0"/>
                  </a:lnTo>
                  <a:lnTo>
                    <a:pt x="4274334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57150"/>
              <a:ext cx="4274335" cy="21103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1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185823" y="3454292"/>
            <a:ext cx="792734" cy="629681"/>
            <a:chOff x="0" y="0"/>
            <a:chExt cx="208786" cy="16584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8786" cy="165842"/>
            </a:xfrm>
            <a:custGeom>
              <a:avLst/>
              <a:gdLst/>
              <a:ahLst/>
              <a:cxnLst/>
              <a:rect r="r" b="b" t="t" l="l"/>
              <a:pathLst>
                <a:path h="165842" w="208786">
                  <a:moveTo>
                    <a:pt x="0" y="0"/>
                  </a:moveTo>
                  <a:lnTo>
                    <a:pt x="208786" y="0"/>
                  </a:lnTo>
                  <a:lnTo>
                    <a:pt x="208786" y="165842"/>
                  </a:lnTo>
                  <a:lnTo>
                    <a:pt x="0" y="165842"/>
                  </a:lnTo>
                  <a:close/>
                </a:path>
              </a:pathLst>
            </a:custGeom>
            <a:solidFill>
              <a:srgbClr val="78A6CB">
                <a:alpha val="33725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57150"/>
              <a:ext cx="208786" cy="1086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1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true" flipV="true" rot="0">
            <a:off x="16310046" y="-2312817"/>
            <a:ext cx="8623491" cy="8750775"/>
          </a:xfrm>
          <a:custGeom>
            <a:avLst/>
            <a:gdLst/>
            <a:ahLst/>
            <a:cxnLst/>
            <a:rect r="r" b="b" t="t" l="l"/>
            <a:pathLst>
              <a:path h="8750775" w="8623491">
                <a:moveTo>
                  <a:pt x="8623491" y="8750775"/>
                </a:moveTo>
                <a:lnTo>
                  <a:pt x="0" y="8750775"/>
                </a:lnTo>
                <a:lnTo>
                  <a:pt x="0" y="0"/>
                </a:lnTo>
                <a:lnTo>
                  <a:pt x="8623491" y="0"/>
                </a:lnTo>
                <a:lnTo>
                  <a:pt x="8623491" y="8750775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6630940" y="3864288"/>
            <a:ext cx="8623491" cy="8750775"/>
          </a:xfrm>
          <a:custGeom>
            <a:avLst/>
            <a:gdLst/>
            <a:ahLst/>
            <a:cxnLst/>
            <a:rect r="r" b="b" t="t" l="l"/>
            <a:pathLst>
              <a:path h="8750775" w="8623491">
                <a:moveTo>
                  <a:pt x="0" y="0"/>
                </a:moveTo>
                <a:lnTo>
                  <a:pt x="8623491" y="0"/>
                </a:lnTo>
                <a:lnTo>
                  <a:pt x="8623491" y="8750775"/>
                </a:lnTo>
                <a:lnTo>
                  <a:pt x="0" y="87507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0800000">
            <a:off x="6125872" y="9311584"/>
            <a:ext cx="6036256" cy="3303478"/>
          </a:xfrm>
          <a:custGeom>
            <a:avLst/>
            <a:gdLst/>
            <a:ahLst/>
            <a:cxnLst/>
            <a:rect r="r" b="b" t="t" l="l"/>
            <a:pathLst>
              <a:path h="3303478" w="6036256">
                <a:moveTo>
                  <a:pt x="0" y="0"/>
                </a:moveTo>
                <a:lnTo>
                  <a:pt x="6036256" y="0"/>
                </a:lnTo>
                <a:lnTo>
                  <a:pt x="6036256" y="3303479"/>
                </a:lnTo>
                <a:lnTo>
                  <a:pt x="0" y="330347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321456" y="3222914"/>
            <a:ext cx="12061386" cy="2384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3500" spc="175" b="true">
                <a:solidFill>
                  <a:srgbClr val="0D1C38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Interactive Map &amp; Guide</a:t>
            </a:r>
          </a:p>
          <a:p>
            <a:pPr algn="just">
              <a:lnSpc>
                <a:spcPts val="3605"/>
              </a:lnSpc>
            </a:pPr>
            <a:r>
              <a:rPr lang="en-US" sz="3500" spc="175">
                <a:solidFill>
                  <a:srgbClr val="0D1C38"/>
                </a:solidFill>
                <a:latin typeface="Assistant"/>
                <a:ea typeface="Assistant"/>
                <a:cs typeface="Assistant"/>
                <a:sym typeface="Assistant"/>
              </a:rPr>
              <a:t>Real-time navigation for all campus buildings, offices, and student-run shops to ensure seamless movement within BUP.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339285" y="3184814"/>
            <a:ext cx="485810" cy="899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00"/>
              </a:lnSpc>
            </a:pPr>
            <a:r>
              <a:rPr lang="en-US" b="true" sz="3900" spc="195">
                <a:solidFill>
                  <a:srgbClr val="0D1C38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1.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486682" y="1825517"/>
            <a:ext cx="7971261" cy="162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7500">
                <a:solidFill>
                  <a:srgbClr val="0D1C38"/>
                </a:solidFill>
                <a:latin typeface="Roca One"/>
                <a:ea typeface="Roca One"/>
                <a:cs typeface="Roca One"/>
                <a:sym typeface="Roca One"/>
              </a:rPr>
              <a:t>System Features </a:t>
            </a:r>
            <a:r>
              <a:rPr lang="en-US" sz="7500">
                <a:solidFill>
                  <a:srgbClr val="0D1C38"/>
                </a:solidFill>
                <a:latin typeface="Roca One"/>
                <a:ea typeface="Roca One"/>
                <a:cs typeface="Roca One"/>
                <a:sym typeface="Roca One"/>
              </a:rPr>
              <a:t>Overview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2185823" y="6123117"/>
            <a:ext cx="792734" cy="629681"/>
            <a:chOff x="0" y="0"/>
            <a:chExt cx="208786" cy="16584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8786" cy="165842"/>
            </a:xfrm>
            <a:custGeom>
              <a:avLst/>
              <a:gdLst/>
              <a:ahLst/>
              <a:cxnLst/>
              <a:rect r="r" b="b" t="t" l="l"/>
              <a:pathLst>
                <a:path h="165842" w="208786">
                  <a:moveTo>
                    <a:pt x="0" y="0"/>
                  </a:moveTo>
                  <a:lnTo>
                    <a:pt x="208786" y="0"/>
                  </a:lnTo>
                  <a:lnTo>
                    <a:pt x="208786" y="165842"/>
                  </a:lnTo>
                  <a:lnTo>
                    <a:pt x="0" y="165842"/>
                  </a:lnTo>
                  <a:close/>
                </a:path>
              </a:pathLst>
            </a:custGeom>
            <a:solidFill>
              <a:srgbClr val="78A6CB">
                <a:alpha val="33725"/>
              </a:srgbClr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57150"/>
              <a:ext cx="208786" cy="1086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1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2339285" y="5853639"/>
            <a:ext cx="485810" cy="899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00"/>
              </a:lnSpc>
            </a:pPr>
            <a:r>
              <a:rPr lang="en-US" b="true" sz="3900" spc="195">
                <a:solidFill>
                  <a:srgbClr val="0D1C38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2.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321456" y="5891739"/>
            <a:ext cx="12061386" cy="2384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3500" spc="175" b="true">
                <a:solidFill>
                  <a:srgbClr val="0D1C38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AI-Powered Chatbot</a:t>
            </a:r>
          </a:p>
          <a:p>
            <a:pPr algn="just">
              <a:lnSpc>
                <a:spcPts val="3605"/>
              </a:lnSpc>
            </a:pPr>
            <a:r>
              <a:rPr lang="en-US" sz="3500" spc="175">
                <a:solidFill>
                  <a:srgbClr val="0D1C38"/>
                </a:solidFill>
                <a:latin typeface="Assistant"/>
                <a:ea typeface="Assistant"/>
                <a:cs typeface="Assistant"/>
                <a:sym typeface="Assistant"/>
              </a:rPr>
              <a:t>A 24/7 virtu</a:t>
            </a:r>
            <a:r>
              <a:rPr lang="en-US" sz="3500" spc="175">
                <a:solidFill>
                  <a:srgbClr val="0D1C38"/>
                </a:solidFill>
                <a:latin typeface="Assistant"/>
                <a:ea typeface="Assistant"/>
                <a:cs typeface="Assistant"/>
                <a:sym typeface="Assistant"/>
              </a:rPr>
              <a:t>al assistant handling campus FAQs, administrative requirements, and general student queries instantly.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5597" t="0" r="-15597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9443" y="1028700"/>
            <a:ext cx="16229114" cy="8229600"/>
            <a:chOff x="0" y="0"/>
            <a:chExt cx="4274335" cy="21674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4334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334">
                  <a:moveTo>
                    <a:pt x="0" y="0"/>
                  </a:moveTo>
                  <a:lnTo>
                    <a:pt x="4274334" y="0"/>
                  </a:lnTo>
                  <a:lnTo>
                    <a:pt x="4274334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57150"/>
              <a:ext cx="4274335" cy="21103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1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185823" y="3454292"/>
            <a:ext cx="792734" cy="629681"/>
            <a:chOff x="0" y="0"/>
            <a:chExt cx="208786" cy="16584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8786" cy="165842"/>
            </a:xfrm>
            <a:custGeom>
              <a:avLst/>
              <a:gdLst/>
              <a:ahLst/>
              <a:cxnLst/>
              <a:rect r="r" b="b" t="t" l="l"/>
              <a:pathLst>
                <a:path h="165842" w="208786">
                  <a:moveTo>
                    <a:pt x="0" y="0"/>
                  </a:moveTo>
                  <a:lnTo>
                    <a:pt x="208786" y="0"/>
                  </a:lnTo>
                  <a:lnTo>
                    <a:pt x="208786" y="165842"/>
                  </a:lnTo>
                  <a:lnTo>
                    <a:pt x="0" y="165842"/>
                  </a:lnTo>
                  <a:close/>
                </a:path>
              </a:pathLst>
            </a:custGeom>
            <a:solidFill>
              <a:srgbClr val="78A6CB">
                <a:alpha val="33725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57150"/>
              <a:ext cx="208786" cy="1086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1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true" flipV="true" rot="0">
            <a:off x="16310046" y="-2312817"/>
            <a:ext cx="8623491" cy="8750775"/>
          </a:xfrm>
          <a:custGeom>
            <a:avLst/>
            <a:gdLst/>
            <a:ahLst/>
            <a:cxnLst/>
            <a:rect r="r" b="b" t="t" l="l"/>
            <a:pathLst>
              <a:path h="8750775" w="8623491">
                <a:moveTo>
                  <a:pt x="8623491" y="8750775"/>
                </a:moveTo>
                <a:lnTo>
                  <a:pt x="0" y="8750775"/>
                </a:lnTo>
                <a:lnTo>
                  <a:pt x="0" y="0"/>
                </a:lnTo>
                <a:lnTo>
                  <a:pt x="8623491" y="0"/>
                </a:lnTo>
                <a:lnTo>
                  <a:pt x="8623491" y="8750775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6630940" y="3864288"/>
            <a:ext cx="8623491" cy="8750775"/>
          </a:xfrm>
          <a:custGeom>
            <a:avLst/>
            <a:gdLst/>
            <a:ahLst/>
            <a:cxnLst/>
            <a:rect r="r" b="b" t="t" l="l"/>
            <a:pathLst>
              <a:path h="8750775" w="8623491">
                <a:moveTo>
                  <a:pt x="0" y="0"/>
                </a:moveTo>
                <a:lnTo>
                  <a:pt x="8623491" y="0"/>
                </a:lnTo>
                <a:lnTo>
                  <a:pt x="8623491" y="8750775"/>
                </a:lnTo>
                <a:lnTo>
                  <a:pt x="0" y="87507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0800000">
            <a:off x="6125872" y="9311584"/>
            <a:ext cx="6036256" cy="3303478"/>
          </a:xfrm>
          <a:custGeom>
            <a:avLst/>
            <a:gdLst/>
            <a:ahLst/>
            <a:cxnLst/>
            <a:rect r="r" b="b" t="t" l="l"/>
            <a:pathLst>
              <a:path h="3303478" w="6036256">
                <a:moveTo>
                  <a:pt x="0" y="0"/>
                </a:moveTo>
                <a:lnTo>
                  <a:pt x="6036256" y="0"/>
                </a:lnTo>
                <a:lnTo>
                  <a:pt x="6036256" y="3303479"/>
                </a:lnTo>
                <a:lnTo>
                  <a:pt x="0" y="330347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321456" y="3222914"/>
            <a:ext cx="12061386" cy="2384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3500" spc="175" b="true">
                <a:solidFill>
                  <a:srgbClr val="0D1C38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In-App Ordering System</a:t>
            </a:r>
          </a:p>
          <a:p>
            <a:pPr algn="just">
              <a:lnSpc>
                <a:spcPts val="3605"/>
              </a:lnSpc>
            </a:pPr>
            <a:r>
              <a:rPr lang="en-US" sz="3500" spc="175">
                <a:solidFill>
                  <a:srgbClr val="0D1C38"/>
                </a:solidFill>
                <a:latin typeface="Assistant"/>
                <a:ea typeface="Assistant"/>
                <a:cs typeface="Assistant"/>
                <a:sym typeface="Assistant"/>
              </a:rPr>
              <a:t>A d</a:t>
            </a:r>
            <a:r>
              <a:rPr lang="en-US" sz="3500" spc="175">
                <a:solidFill>
                  <a:srgbClr val="0D1C38"/>
                </a:solidFill>
                <a:latin typeface="Assistant"/>
                <a:ea typeface="Assistant"/>
                <a:cs typeface="Assistant"/>
                <a:sym typeface="Assistant"/>
              </a:rPr>
              <a:t>edicated marketplace where Entrepreneurship students can list products and accept orders directly within the platform.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339285" y="3184814"/>
            <a:ext cx="485810" cy="899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00"/>
              </a:lnSpc>
            </a:pPr>
            <a:r>
              <a:rPr lang="en-US" b="true" sz="3900" spc="195">
                <a:solidFill>
                  <a:srgbClr val="0D1C38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3.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486682" y="1825517"/>
            <a:ext cx="7971261" cy="162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7500">
                <a:solidFill>
                  <a:srgbClr val="0D1C38"/>
                </a:solidFill>
                <a:latin typeface="Roca One"/>
                <a:ea typeface="Roca One"/>
                <a:cs typeface="Roca One"/>
                <a:sym typeface="Roca One"/>
              </a:rPr>
              <a:t>System Features </a:t>
            </a:r>
            <a:r>
              <a:rPr lang="en-US" sz="7500">
                <a:solidFill>
                  <a:srgbClr val="0D1C38"/>
                </a:solidFill>
                <a:latin typeface="Roca One"/>
                <a:ea typeface="Roca One"/>
                <a:cs typeface="Roca One"/>
                <a:sym typeface="Roca One"/>
              </a:rPr>
              <a:t>Overview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2185823" y="6123117"/>
            <a:ext cx="792734" cy="629681"/>
            <a:chOff x="0" y="0"/>
            <a:chExt cx="208786" cy="16584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8786" cy="165842"/>
            </a:xfrm>
            <a:custGeom>
              <a:avLst/>
              <a:gdLst/>
              <a:ahLst/>
              <a:cxnLst/>
              <a:rect r="r" b="b" t="t" l="l"/>
              <a:pathLst>
                <a:path h="165842" w="208786">
                  <a:moveTo>
                    <a:pt x="0" y="0"/>
                  </a:moveTo>
                  <a:lnTo>
                    <a:pt x="208786" y="0"/>
                  </a:lnTo>
                  <a:lnTo>
                    <a:pt x="208786" y="165842"/>
                  </a:lnTo>
                  <a:lnTo>
                    <a:pt x="0" y="165842"/>
                  </a:lnTo>
                  <a:close/>
                </a:path>
              </a:pathLst>
            </a:custGeom>
            <a:solidFill>
              <a:srgbClr val="78A6CB">
                <a:alpha val="33725"/>
              </a:srgbClr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57150"/>
              <a:ext cx="208786" cy="1086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1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2339285" y="5853639"/>
            <a:ext cx="485810" cy="899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00"/>
              </a:lnSpc>
            </a:pPr>
            <a:r>
              <a:rPr lang="en-US" b="true" sz="3900" spc="195">
                <a:solidFill>
                  <a:srgbClr val="0D1C38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4.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321456" y="5891739"/>
            <a:ext cx="12061386" cy="19269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3500" spc="175" b="true">
                <a:solidFill>
                  <a:srgbClr val="0D1C38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Establishment Walkthrough &amp; Status Tracker</a:t>
            </a:r>
          </a:p>
          <a:p>
            <a:pPr algn="just">
              <a:lnSpc>
                <a:spcPts val="3605"/>
              </a:lnSpc>
            </a:pPr>
            <a:r>
              <a:rPr lang="en-US" sz="3500" spc="175">
                <a:solidFill>
                  <a:srgbClr val="0D1C38"/>
                </a:solidFill>
                <a:latin typeface="Assistant"/>
                <a:ea typeface="Assistant"/>
                <a:cs typeface="Assistant"/>
                <a:sym typeface="Assistant"/>
              </a:rPr>
              <a:t>V</a:t>
            </a:r>
            <a:r>
              <a:rPr lang="en-US" sz="3500" spc="175">
                <a:solidFill>
                  <a:srgbClr val="0D1C38"/>
                </a:solidFill>
                <a:latin typeface="Assistant"/>
                <a:ea typeface="Assistant"/>
                <a:cs typeface="Assistant"/>
                <a:sym typeface="Assistant"/>
              </a:rPr>
              <a:t>irtu</a:t>
            </a:r>
            <a:r>
              <a:rPr lang="en-US" sz="3500" spc="175">
                <a:solidFill>
                  <a:srgbClr val="0D1C38"/>
                </a:solidFill>
                <a:latin typeface="Assistant"/>
                <a:ea typeface="Assistant"/>
                <a:cs typeface="Assistant"/>
                <a:sym typeface="Assistant"/>
              </a:rPr>
              <a:t>al previews of campus offices and live updates on the open/closed status of various establishments.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5597" t="0" r="-15597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9443" y="1028700"/>
            <a:ext cx="16229114" cy="8229600"/>
            <a:chOff x="0" y="0"/>
            <a:chExt cx="4274335" cy="21674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4334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334">
                  <a:moveTo>
                    <a:pt x="0" y="0"/>
                  </a:moveTo>
                  <a:lnTo>
                    <a:pt x="4274334" y="0"/>
                  </a:lnTo>
                  <a:lnTo>
                    <a:pt x="4274334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57150"/>
              <a:ext cx="4274335" cy="21103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1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true" flipV="true" rot="0">
            <a:off x="16310046" y="-2312817"/>
            <a:ext cx="8623491" cy="8750775"/>
          </a:xfrm>
          <a:custGeom>
            <a:avLst/>
            <a:gdLst/>
            <a:ahLst/>
            <a:cxnLst/>
            <a:rect r="r" b="b" t="t" l="l"/>
            <a:pathLst>
              <a:path h="8750775" w="8623491">
                <a:moveTo>
                  <a:pt x="8623491" y="8750775"/>
                </a:moveTo>
                <a:lnTo>
                  <a:pt x="0" y="8750775"/>
                </a:lnTo>
                <a:lnTo>
                  <a:pt x="0" y="0"/>
                </a:lnTo>
                <a:lnTo>
                  <a:pt x="8623491" y="0"/>
                </a:lnTo>
                <a:lnTo>
                  <a:pt x="8623491" y="8750775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6630940" y="3864288"/>
            <a:ext cx="8623491" cy="8750775"/>
          </a:xfrm>
          <a:custGeom>
            <a:avLst/>
            <a:gdLst/>
            <a:ahLst/>
            <a:cxnLst/>
            <a:rect r="r" b="b" t="t" l="l"/>
            <a:pathLst>
              <a:path h="8750775" w="8623491">
                <a:moveTo>
                  <a:pt x="0" y="0"/>
                </a:moveTo>
                <a:lnTo>
                  <a:pt x="8623491" y="0"/>
                </a:lnTo>
                <a:lnTo>
                  <a:pt x="8623491" y="8750775"/>
                </a:lnTo>
                <a:lnTo>
                  <a:pt x="0" y="87507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0800000">
            <a:off x="6125872" y="9311584"/>
            <a:ext cx="6036256" cy="3303478"/>
          </a:xfrm>
          <a:custGeom>
            <a:avLst/>
            <a:gdLst/>
            <a:ahLst/>
            <a:cxnLst/>
            <a:rect r="r" b="b" t="t" l="l"/>
            <a:pathLst>
              <a:path h="3303478" w="6036256">
                <a:moveTo>
                  <a:pt x="0" y="0"/>
                </a:moveTo>
                <a:lnTo>
                  <a:pt x="6036256" y="0"/>
                </a:lnTo>
                <a:lnTo>
                  <a:pt x="6036256" y="3303479"/>
                </a:lnTo>
                <a:lnTo>
                  <a:pt x="0" y="330347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687769" y="1958811"/>
            <a:ext cx="7314637" cy="86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7500">
                <a:solidFill>
                  <a:srgbClr val="0D1C38"/>
                </a:solidFill>
                <a:latin typeface="Roca One"/>
                <a:ea typeface="Roca One"/>
                <a:cs typeface="Roca One"/>
                <a:sym typeface="Roca One"/>
              </a:rPr>
              <a:t>Target Users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882358" y="3709352"/>
            <a:ext cx="4243514" cy="3963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b="true" sz="3499" spc="52">
                <a:solidFill>
                  <a:srgbClr val="0E182F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🎓 Students</a:t>
            </a:r>
          </a:p>
          <a:p>
            <a:pPr algn="ctr">
              <a:lnSpc>
                <a:spcPts val="4480"/>
              </a:lnSpc>
            </a:pPr>
            <a:r>
              <a:rPr lang="en-US" sz="3200" spc="48">
                <a:solidFill>
                  <a:srgbClr val="0E182F"/>
                </a:solidFill>
                <a:latin typeface="Assistant"/>
                <a:ea typeface="Assistant"/>
                <a:cs typeface="Assistant"/>
                <a:sym typeface="Assistant"/>
              </a:rPr>
              <a:t>Primary</a:t>
            </a:r>
            <a:r>
              <a:rPr lang="en-US" sz="3200" spc="48">
                <a:solidFill>
                  <a:srgbClr val="0E182F"/>
                </a:solidFill>
                <a:latin typeface="Assistant"/>
                <a:ea typeface="Assistant"/>
                <a:cs typeface="Assistant"/>
                <a:sym typeface="Assistant"/>
              </a:rPr>
              <a:t> users—freshmen and enrolled students navigating campus, accessing services, or ordering from student-run shops.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223331" y="3709352"/>
            <a:ext cx="4243514" cy="3401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b="true" sz="3499" spc="52">
                <a:solidFill>
                  <a:srgbClr val="0E182F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👥 Visitors</a:t>
            </a:r>
          </a:p>
          <a:p>
            <a:pPr algn="ctr">
              <a:lnSpc>
                <a:spcPts val="4480"/>
              </a:lnSpc>
            </a:pPr>
            <a:r>
              <a:rPr lang="en-US" sz="3200" spc="48">
                <a:solidFill>
                  <a:srgbClr val="0E182F"/>
                </a:solidFill>
                <a:latin typeface="Assistant"/>
                <a:ea typeface="Assistant"/>
                <a:cs typeface="Assistant"/>
                <a:sym typeface="Assistant"/>
              </a:rPr>
              <a:t>G</a:t>
            </a:r>
            <a:r>
              <a:rPr lang="en-US" sz="3200" spc="48">
                <a:solidFill>
                  <a:srgbClr val="0E182F"/>
                </a:solidFill>
                <a:latin typeface="Assistant"/>
                <a:ea typeface="Assistant"/>
                <a:cs typeface="Assistant"/>
                <a:sym typeface="Assistant"/>
              </a:rPr>
              <a:t>uests and prospective students who require clear guidance around campus facilities and university services.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564303" y="3807138"/>
            <a:ext cx="4243514" cy="3401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b="true" sz="3499" spc="52">
                <a:solidFill>
                  <a:srgbClr val="0E182F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👩‍🏫 Teachers</a:t>
            </a:r>
          </a:p>
          <a:p>
            <a:pPr algn="ctr">
              <a:lnSpc>
                <a:spcPts val="4480"/>
              </a:lnSpc>
            </a:pPr>
            <a:r>
              <a:rPr lang="en-US" sz="3200" spc="48">
                <a:solidFill>
                  <a:srgbClr val="0E182F"/>
                </a:solidFill>
                <a:latin typeface="Assistant"/>
                <a:ea typeface="Assistant"/>
                <a:cs typeface="Assistant"/>
                <a:sym typeface="Assistant"/>
              </a:rPr>
              <a:t>Fac</a:t>
            </a:r>
            <a:r>
              <a:rPr lang="en-US" sz="3200" spc="48">
                <a:solidFill>
                  <a:srgbClr val="0E182F"/>
                </a:solidFill>
                <a:latin typeface="Assistant"/>
                <a:ea typeface="Assistant"/>
                <a:cs typeface="Assistant"/>
                <a:sym typeface="Assistant"/>
              </a:rPr>
              <a:t>ulty members who need quick access to campus directories, office locations, and administrative services.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5597" t="0" r="-15597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9443" y="1028700"/>
            <a:ext cx="16229114" cy="8229600"/>
            <a:chOff x="0" y="0"/>
            <a:chExt cx="4274335" cy="21674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4334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334">
                  <a:moveTo>
                    <a:pt x="0" y="0"/>
                  </a:moveTo>
                  <a:lnTo>
                    <a:pt x="4274334" y="0"/>
                  </a:lnTo>
                  <a:lnTo>
                    <a:pt x="4274334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57150"/>
              <a:ext cx="4274335" cy="21103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1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185823" y="3454292"/>
            <a:ext cx="792734" cy="629681"/>
            <a:chOff x="0" y="0"/>
            <a:chExt cx="208786" cy="16584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8786" cy="165842"/>
            </a:xfrm>
            <a:custGeom>
              <a:avLst/>
              <a:gdLst/>
              <a:ahLst/>
              <a:cxnLst/>
              <a:rect r="r" b="b" t="t" l="l"/>
              <a:pathLst>
                <a:path h="165842" w="208786">
                  <a:moveTo>
                    <a:pt x="0" y="0"/>
                  </a:moveTo>
                  <a:lnTo>
                    <a:pt x="208786" y="0"/>
                  </a:lnTo>
                  <a:lnTo>
                    <a:pt x="208786" y="165842"/>
                  </a:lnTo>
                  <a:lnTo>
                    <a:pt x="0" y="165842"/>
                  </a:lnTo>
                  <a:close/>
                </a:path>
              </a:pathLst>
            </a:custGeom>
            <a:solidFill>
              <a:srgbClr val="78A6CB">
                <a:alpha val="33725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57150"/>
              <a:ext cx="208786" cy="1086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1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true" flipV="true" rot="0">
            <a:off x="16310046" y="-2312817"/>
            <a:ext cx="8623491" cy="8750775"/>
          </a:xfrm>
          <a:custGeom>
            <a:avLst/>
            <a:gdLst/>
            <a:ahLst/>
            <a:cxnLst/>
            <a:rect r="r" b="b" t="t" l="l"/>
            <a:pathLst>
              <a:path h="8750775" w="8623491">
                <a:moveTo>
                  <a:pt x="8623491" y="8750775"/>
                </a:moveTo>
                <a:lnTo>
                  <a:pt x="0" y="8750775"/>
                </a:lnTo>
                <a:lnTo>
                  <a:pt x="0" y="0"/>
                </a:lnTo>
                <a:lnTo>
                  <a:pt x="8623491" y="0"/>
                </a:lnTo>
                <a:lnTo>
                  <a:pt x="8623491" y="8750775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6630940" y="3864288"/>
            <a:ext cx="8623491" cy="8750775"/>
          </a:xfrm>
          <a:custGeom>
            <a:avLst/>
            <a:gdLst/>
            <a:ahLst/>
            <a:cxnLst/>
            <a:rect r="r" b="b" t="t" l="l"/>
            <a:pathLst>
              <a:path h="8750775" w="8623491">
                <a:moveTo>
                  <a:pt x="0" y="0"/>
                </a:moveTo>
                <a:lnTo>
                  <a:pt x="8623491" y="0"/>
                </a:lnTo>
                <a:lnTo>
                  <a:pt x="8623491" y="8750775"/>
                </a:lnTo>
                <a:lnTo>
                  <a:pt x="0" y="87507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0800000">
            <a:off x="6125872" y="9311584"/>
            <a:ext cx="6036256" cy="3303478"/>
          </a:xfrm>
          <a:custGeom>
            <a:avLst/>
            <a:gdLst/>
            <a:ahLst/>
            <a:cxnLst/>
            <a:rect r="r" b="b" t="t" l="l"/>
            <a:pathLst>
              <a:path h="3303478" w="6036256">
                <a:moveTo>
                  <a:pt x="0" y="0"/>
                </a:moveTo>
                <a:lnTo>
                  <a:pt x="6036256" y="0"/>
                </a:lnTo>
                <a:lnTo>
                  <a:pt x="6036256" y="3303479"/>
                </a:lnTo>
                <a:lnTo>
                  <a:pt x="0" y="330347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321456" y="3222914"/>
            <a:ext cx="12061386" cy="2384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3500" spc="175" b="true">
                <a:solidFill>
                  <a:srgbClr val="0D1C38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Ease of Navigation</a:t>
            </a:r>
          </a:p>
          <a:p>
            <a:pPr algn="just">
              <a:lnSpc>
                <a:spcPts val="3605"/>
              </a:lnSpc>
            </a:pPr>
            <a:r>
              <a:rPr lang="en-US" sz="3500" spc="175">
                <a:solidFill>
                  <a:srgbClr val="0D1C38"/>
                </a:solidFill>
                <a:latin typeface="Assistant"/>
                <a:ea typeface="Assistant"/>
                <a:cs typeface="Assistant"/>
                <a:sym typeface="Assistant"/>
              </a:rPr>
              <a:t>H</a:t>
            </a:r>
            <a:r>
              <a:rPr lang="en-US" sz="3500" spc="175">
                <a:solidFill>
                  <a:srgbClr val="0D1C38"/>
                </a:solidFill>
                <a:latin typeface="Assistant"/>
                <a:ea typeface="Assistant"/>
                <a:cs typeface="Assistant"/>
                <a:sym typeface="Assistant"/>
              </a:rPr>
              <a:t>elp freshmen and visitors avoid confusion during campus visits by providing an easy, convenient way to navigate Bicol University Polangui.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339285" y="3184814"/>
            <a:ext cx="485810" cy="899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00"/>
              </a:lnSpc>
            </a:pPr>
            <a:r>
              <a:rPr lang="en-US" b="true" sz="3900" spc="195">
                <a:solidFill>
                  <a:srgbClr val="0D1C38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1.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486682" y="1825517"/>
            <a:ext cx="7971261" cy="162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7500">
                <a:solidFill>
                  <a:srgbClr val="0D1C38"/>
                </a:solidFill>
                <a:latin typeface="Roca One"/>
                <a:ea typeface="Roca One"/>
                <a:cs typeface="Roca One"/>
                <a:sym typeface="Roca One"/>
              </a:rPr>
              <a:t>Project</a:t>
            </a:r>
          </a:p>
          <a:p>
            <a:pPr algn="ctr">
              <a:lnSpc>
                <a:spcPts val="6000"/>
              </a:lnSpc>
            </a:pPr>
            <a:r>
              <a:rPr lang="en-US" sz="7500">
                <a:solidFill>
                  <a:srgbClr val="0D1C38"/>
                </a:solidFill>
                <a:latin typeface="Roca One"/>
                <a:ea typeface="Roca One"/>
                <a:cs typeface="Roca One"/>
                <a:sym typeface="Roca One"/>
              </a:rPr>
              <a:t>Objectives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2185823" y="6123117"/>
            <a:ext cx="792734" cy="629681"/>
            <a:chOff x="0" y="0"/>
            <a:chExt cx="208786" cy="16584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8786" cy="165842"/>
            </a:xfrm>
            <a:custGeom>
              <a:avLst/>
              <a:gdLst/>
              <a:ahLst/>
              <a:cxnLst/>
              <a:rect r="r" b="b" t="t" l="l"/>
              <a:pathLst>
                <a:path h="165842" w="208786">
                  <a:moveTo>
                    <a:pt x="0" y="0"/>
                  </a:moveTo>
                  <a:lnTo>
                    <a:pt x="208786" y="0"/>
                  </a:lnTo>
                  <a:lnTo>
                    <a:pt x="208786" y="165842"/>
                  </a:lnTo>
                  <a:lnTo>
                    <a:pt x="0" y="165842"/>
                  </a:lnTo>
                  <a:close/>
                </a:path>
              </a:pathLst>
            </a:custGeom>
            <a:solidFill>
              <a:srgbClr val="78A6CB">
                <a:alpha val="33725"/>
              </a:srgbClr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57150"/>
              <a:ext cx="208786" cy="1086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1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2339285" y="5853639"/>
            <a:ext cx="485810" cy="899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00"/>
              </a:lnSpc>
            </a:pPr>
            <a:r>
              <a:rPr lang="en-US" b="true" sz="3900" spc="195">
                <a:solidFill>
                  <a:srgbClr val="0D1C38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2.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321456" y="5891739"/>
            <a:ext cx="12061386" cy="2384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3500" spc="175" b="true">
                <a:solidFill>
                  <a:srgbClr val="0D1C38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Information Centralization</a:t>
            </a:r>
          </a:p>
          <a:p>
            <a:pPr algn="just">
              <a:lnSpc>
                <a:spcPts val="3605"/>
              </a:lnSpc>
            </a:pPr>
            <a:r>
              <a:rPr lang="en-US" sz="3500" spc="175">
                <a:solidFill>
                  <a:srgbClr val="0D1C38"/>
                </a:solidFill>
                <a:latin typeface="Assistant"/>
                <a:ea typeface="Assistant"/>
                <a:cs typeface="Assistant"/>
                <a:sym typeface="Assistant"/>
              </a:rPr>
              <a:t>Prov</a:t>
            </a:r>
            <a:r>
              <a:rPr lang="en-US" sz="3500" spc="175">
                <a:solidFill>
                  <a:srgbClr val="0D1C38"/>
                </a:solidFill>
                <a:latin typeface="Assistant"/>
                <a:ea typeface="Assistant"/>
                <a:cs typeface="Assistant"/>
                <a:sym typeface="Assistant"/>
              </a:rPr>
              <a:t>ide </a:t>
            </a:r>
            <a:r>
              <a:rPr lang="en-US" sz="3500" spc="175">
                <a:solidFill>
                  <a:srgbClr val="0D1C38"/>
                </a:solidFill>
                <a:latin typeface="Assistant"/>
                <a:ea typeface="Assistant"/>
                <a:cs typeface="Assistant"/>
                <a:sym typeface="Assistant"/>
              </a:rPr>
              <a:t>a single, reliable source for campus facilities, offices, services, and student-run businesses in one accessible platform.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5597" t="0" r="-15597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9443" y="1028700"/>
            <a:ext cx="16229114" cy="8229600"/>
            <a:chOff x="0" y="0"/>
            <a:chExt cx="4274335" cy="21674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4334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334">
                  <a:moveTo>
                    <a:pt x="0" y="0"/>
                  </a:moveTo>
                  <a:lnTo>
                    <a:pt x="4274334" y="0"/>
                  </a:lnTo>
                  <a:lnTo>
                    <a:pt x="4274334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57150"/>
              <a:ext cx="4274335" cy="21103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1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185823" y="3454292"/>
            <a:ext cx="792734" cy="629681"/>
            <a:chOff x="0" y="0"/>
            <a:chExt cx="208786" cy="16584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8786" cy="165842"/>
            </a:xfrm>
            <a:custGeom>
              <a:avLst/>
              <a:gdLst/>
              <a:ahLst/>
              <a:cxnLst/>
              <a:rect r="r" b="b" t="t" l="l"/>
              <a:pathLst>
                <a:path h="165842" w="208786">
                  <a:moveTo>
                    <a:pt x="0" y="0"/>
                  </a:moveTo>
                  <a:lnTo>
                    <a:pt x="208786" y="0"/>
                  </a:lnTo>
                  <a:lnTo>
                    <a:pt x="208786" y="165842"/>
                  </a:lnTo>
                  <a:lnTo>
                    <a:pt x="0" y="165842"/>
                  </a:lnTo>
                  <a:close/>
                </a:path>
              </a:pathLst>
            </a:custGeom>
            <a:solidFill>
              <a:srgbClr val="78A6CB">
                <a:alpha val="33725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57150"/>
              <a:ext cx="208786" cy="1086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1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true" flipV="true" rot="0">
            <a:off x="16310046" y="-2312817"/>
            <a:ext cx="8623491" cy="8750775"/>
          </a:xfrm>
          <a:custGeom>
            <a:avLst/>
            <a:gdLst/>
            <a:ahLst/>
            <a:cxnLst/>
            <a:rect r="r" b="b" t="t" l="l"/>
            <a:pathLst>
              <a:path h="8750775" w="8623491">
                <a:moveTo>
                  <a:pt x="8623491" y="8750775"/>
                </a:moveTo>
                <a:lnTo>
                  <a:pt x="0" y="8750775"/>
                </a:lnTo>
                <a:lnTo>
                  <a:pt x="0" y="0"/>
                </a:lnTo>
                <a:lnTo>
                  <a:pt x="8623491" y="0"/>
                </a:lnTo>
                <a:lnTo>
                  <a:pt x="8623491" y="8750775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6630940" y="3864288"/>
            <a:ext cx="8623491" cy="8750775"/>
          </a:xfrm>
          <a:custGeom>
            <a:avLst/>
            <a:gdLst/>
            <a:ahLst/>
            <a:cxnLst/>
            <a:rect r="r" b="b" t="t" l="l"/>
            <a:pathLst>
              <a:path h="8750775" w="8623491">
                <a:moveTo>
                  <a:pt x="0" y="0"/>
                </a:moveTo>
                <a:lnTo>
                  <a:pt x="8623491" y="0"/>
                </a:lnTo>
                <a:lnTo>
                  <a:pt x="8623491" y="8750775"/>
                </a:lnTo>
                <a:lnTo>
                  <a:pt x="0" y="87507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0800000">
            <a:off x="6125872" y="9311584"/>
            <a:ext cx="6036256" cy="3303478"/>
          </a:xfrm>
          <a:custGeom>
            <a:avLst/>
            <a:gdLst/>
            <a:ahLst/>
            <a:cxnLst/>
            <a:rect r="r" b="b" t="t" l="l"/>
            <a:pathLst>
              <a:path h="3303478" w="6036256">
                <a:moveTo>
                  <a:pt x="0" y="0"/>
                </a:moveTo>
                <a:lnTo>
                  <a:pt x="6036256" y="0"/>
                </a:lnTo>
                <a:lnTo>
                  <a:pt x="6036256" y="3303479"/>
                </a:lnTo>
                <a:lnTo>
                  <a:pt x="0" y="330347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321456" y="3222914"/>
            <a:ext cx="12061386" cy="2384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3500" spc="175" b="true">
                <a:solidFill>
                  <a:srgbClr val="0D1C38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Support Student Entrepreneurs</a:t>
            </a:r>
          </a:p>
          <a:p>
            <a:pPr algn="just">
              <a:lnSpc>
                <a:spcPts val="3605"/>
              </a:lnSpc>
            </a:pPr>
            <a:r>
              <a:rPr lang="en-US" sz="3500" spc="175">
                <a:solidFill>
                  <a:srgbClr val="0D1C38"/>
                </a:solidFill>
                <a:latin typeface="Assistant"/>
                <a:ea typeface="Assistant"/>
                <a:cs typeface="Assistant"/>
                <a:sym typeface="Assistant"/>
              </a:rPr>
              <a:t>Give Entr</a:t>
            </a:r>
            <a:r>
              <a:rPr lang="en-US" sz="3500" spc="175">
                <a:solidFill>
                  <a:srgbClr val="0D1C38"/>
                </a:solidFill>
                <a:latin typeface="Assistant"/>
                <a:ea typeface="Assistant"/>
                <a:cs typeface="Assistant"/>
                <a:sym typeface="Assistant"/>
              </a:rPr>
              <a:t>epreneurship students' products wider exposure and support their business growth within the campus community.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355524" y="3184814"/>
            <a:ext cx="453330" cy="899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00"/>
              </a:lnSpc>
            </a:pPr>
            <a:r>
              <a:rPr lang="en-US" b="true" sz="3900" spc="195">
                <a:solidFill>
                  <a:srgbClr val="0D1C38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3.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486682" y="1825517"/>
            <a:ext cx="7971261" cy="162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7500">
                <a:solidFill>
                  <a:srgbClr val="0D1C38"/>
                </a:solidFill>
                <a:latin typeface="Roca One"/>
                <a:ea typeface="Roca One"/>
                <a:cs typeface="Roca One"/>
                <a:sym typeface="Roca One"/>
              </a:rPr>
              <a:t>Project</a:t>
            </a:r>
          </a:p>
          <a:p>
            <a:pPr algn="ctr">
              <a:lnSpc>
                <a:spcPts val="6000"/>
              </a:lnSpc>
            </a:pPr>
            <a:r>
              <a:rPr lang="en-US" sz="7500">
                <a:solidFill>
                  <a:srgbClr val="0D1C38"/>
                </a:solidFill>
                <a:latin typeface="Roca One"/>
                <a:ea typeface="Roca One"/>
                <a:cs typeface="Roca One"/>
                <a:sym typeface="Roca One"/>
              </a:rPr>
              <a:t>Objectives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2185823" y="6123117"/>
            <a:ext cx="792734" cy="629681"/>
            <a:chOff x="0" y="0"/>
            <a:chExt cx="208786" cy="16584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8786" cy="165842"/>
            </a:xfrm>
            <a:custGeom>
              <a:avLst/>
              <a:gdLst/>
              <a:ahLst/>
              <a:cxnLst/>
              <a:rect r="r" b="b" t="t" l="l"/>
              <a:pathLst>
                <a:path h="165842" w="208786">
                  <a:moveTo>
                    <a:pt x="0" y="0"/>
                  </a:moveTo>
                  <a:lnTo>
                    <a:pt x="208786" y="0"/>
                  </a:lnTo>
                  <a:lnTo>
                    <a:pt x="208786" y="165842"/>
                  </a:lnTo>
                  <a:lnTo>
                    <a:pt x="0" y="165842"/>
                  </a:lnTo>
                  <a:close/>
                </a:path>
              </a:pathLst>
            </a:custGeom>
            <a:solidFill>
              <a:srgbClr val="78A6CB">
                <a:alpha val="33725"/>
              </a:srgbClr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57150"/>
              <a:ext cx="208786" cy="1086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1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2339285" y="5853639"/>
            <a:ext cx="485810" cy="899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00"/>
              </a:lnSpc>
            </a:pPr>
            <a:r>
              <a:rPr lang="en-US" b="true" sz="3900" spc="195">
                <a:solidFill>
                  <a:srgbClr val="0D1C38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4.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321456" y="5891739"/>
            <a:ext cx="12061386" cy="2384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3500" spc="175" b="true">
                <a:solidFill>
                  <a:srgbClr val="0D1C38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Efficiency through AI</a:t>
            </a:r>
          </a:p>
          <a:p>
            <a:pPr algn="just">
              <a:lnSpc>
                <a:spcPts val="3605"/>
              </a:lnSpc>
            </a:pPr>
            <a:r>
              <a:rPr lang="en-US" sz="3500" spc="175">
                <a:solidFill>
                  <a:srgbClr val="0D1C38"/>
                </a:solidFill>
                <a:latin typeface="Assistant"/>
                <a:ea typeface="Assistant"/>
                <a:cs typeface="Assistant"/>
                <a:sym typeface="Assistant"/>
              </a:rPr>
              <a:t>Enhanc</a:t>
            </a:r>
            <a:r>
              <a:rPr lang="en-US" sz="3500" spc="175">
                <a:solidFill>
                  <a:srgbClr val="0D1C38"/>
                </a:solidFill>
                <a:latin typeface="Assistant"/>
                <a:ea typeface="Assistant"/>
                <a:cs typeface="Assistant"/>
                <a:sym typeface="Assistant"/>
              </a:rPr>
              <a:t>e user</a:t>
            </a:r>
            <a:r>
              <a:rPr lang="en-US" sz="3500" spc="175">
                <a:solidFill>
                  <a:srgbClr val="0D1C38"/>
                </a:solidFill>
                <a:latin typeface="Assistant"/>
                <a:ea typeface="Assistant"/>
                <a:cs typeface="Assistant"/>
                <a:sym typeface="Assistant"/>
              </a:rPr>
              <a:t> experience and reduce stress with an AI chatbot that handles common inquiries and provides instant support.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5597" t="0" r="-15597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9443" y="1028700"/>
            <a:ext cx="16229114" cy="8229600"/>
            <a:chOff x="0" y="0"/>
            <a:chExt cx="4274335" cy="21674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4334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334">
                  <a:moveTo>
                    <a:pt x="0" y="0"/>
                  </a:moveTo>
                  <a:lnTo>
                    <a:pt x="4274334" y="0"/>
                  </a:lnTo>
                  <a:lnTo>
                    <a:pt x="4274334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57150"/>
              <a:ext cx="4274335" cy="21103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1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true" flipV="true" rot="0">
            <a:off x="16310046" y="-2312817"/>
            <a:ext cx="8623491" cy="8750775"/>
          </a:xfrm>
          <a:custGeom>
            <a:avLst/>
            <a:gdLst/>
            <a:ahLst/>
            <a:cxnLst/>
            <a:rect r="r" b="b" t="t" l="l"/>
            <a:pathLst>
              <a:path h="8750775" w="8623491">
                <a:moveTo>
                  <a:pt x="8623491" y="8750775"/>
                </a:moveTo>
                <a:lnTo>
                  <a:pt x="0" y="8750775"/>
                </a:lnTo>
                <a:lnTo>
                  <a:pt x="0" y="0"/>
                </a:lnTo>
                <a:lnTo>
                  <a:pt x="8623491" y="0"/>
                </a:lnTo>
                <a:lnTo>
                  <a:pt x="8623491" y="8750775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6630940" y="3864288"/>
            <a:ext cx="8623491" cy="8750775"/>
          </a:xfrm>
          <a:custGeom>
            <a:avLst/>
            <a:gdLst/>
            <a:ahLst/>
            <a:cxnLst/>
            <a:rect r="r" b="b" t="t" l="l"/>
            <a:pathLst>
              <a:path h="8750775" w="8623491">
                <a:moveTo>
                  <a:pt x="0" y="0"/>
                </a:moveTo>
                <a:lnTo>
                  <a:pt x="8623491" y="0"/>
                </a:lnTo>
                <a:lnTo>
                  <a:pt x="8623491" y="8750775"/>
                </a:lnTo>
                <a:lnTo>
                  <a:pt x="0" y="87507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0800000">
            <a:off x="6125872" y="9311584"/>
            <a:ext cx="6036256" cy="3303478"/>
          </a:xfrm>
          <a:custGeom>
            <a:avLst/>
            <a:gdLst/>
            <a:ahLst/>
            <a:cxnLst/>
            <a:rect r="r" b="b" t="t" l="l"/>
            <a:pathLst>
              <a:path h="3303478" w="6036256">
                <a:moveTo>
                  <a:pt x="0" y="0"/>
                </a:moveTo>
                <a:lnTo>
                  <a:pt x="6036256" y="0"/>
                </a:lnTo>
                <a:lnTo>
                  <a:pt x="6036256" y="3303479"/>
                </a:lnTo>
                <a:lnTo>
                  <a:pt x="0" y="330347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995236" y="1028700"/>
            <a:ext cx="6168855" cy="8229600"/>
          </a:xfrm>
          <a:custGeom>
            <a:avLst/>
            <a:gdLst/>
            <a:ahLst/>
            <a:cxnLst/>
            <a:rect r="r" b="b" t="t" l="l"/>
            <a:pathLst>
              <a:path h="8229600" w="6168855">
                <a:moveTo>
                  <a:pt x="0" y="0"/>
                </a:moveTo>
                <a:lnTo>
                  <a:pt x="6168855" y="0"/>
                </a:lnTo>
                <a:lnTo>
                  <a:pt x="6168855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9443" y="1608707"/>
            <a:ext cx="7314637" cy="162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7500">
                <a:solidFill>
                  <a:srgbClr val="0D1C38"/>
                </a:solidFill>
                <a:latin typeface="Roca One"/>
                <a:ea typeface="Roca One"/>
                <a:cs typeface="Roca One"/>
                <a:sym typeface="Roca One"/>
              </a:rPr>
              <a:t>System Diagrams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992551" y="3542025"/>
            <a:ext cx="4599185" cy="3458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b="true" sz="3499" spc="52">
                <a:solidFill>
                  <a:srgbClr val="0E182F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📊</a:t>
            </a:r>
            <a:r>
              <a:rPr lang="en-US" b="true" sz="3499" spc="52">
                <a:solidFill>
                  <a:srgbClr val="0E182F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 Use Case Diagram</a:t>
            </a:r>
          </a:p>
          <a:p>
            <a:pPr algn="ctr">
              <a:lnSpc>
                <a:spcPts val="4899"/>
              </a:lnSpc>
            </a:pPr>
          </a:p>
          <a:p>
            <a:pPr algn="ctr">
              <a:lnSpc>
                <a:spcPts val="4480"/>
              </a:lnSpc>
            </a:pPr>
            <a:r>
              <a:rPr lang="en-US" sz="3200" spc="48">
                <a:solidFill>
                  <a:srgbClr val="0E182F"/>
                </a:solidFill>
                <a:latin typeface="Assistant"/>
                <a:ea typeface="Assistant"/>
                <a:cs typeface="Assistant"/>
                <a:sym typeface="Assistant"/>
              </a:rPr>
              <a:t>Illustrates interactions between Students, Teachers, and Visitors with system features.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5597" t="0" r="-15597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9443" y="1028700"/>
            <a:ext cx="16229114" cy="8229600"/>
            <a:chOff x="0" y="0"/>
            <a:chExt cx="4274335" cy="21674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4334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334">
                  <a:moveTo>
                    <a:pt x="0" y="0"/>
                  </a:moveTo>
                  <a:lnTo>
                    <a:pt x="4274334" y="0"/>
                  </a:lnTo>
                  <a:lnTo>
                    <a:pt x="4274334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57150"/>
              <a:ext cx="4274335" cy="21103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1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true" flipV="true" rot="0">
            <a:off x="16310046" y="-2312817"/>
            <a:ext cx="8623491" cy="8750775"/>
          </a:xfrm>
          <a:custGeom>
            <a:avLst/>
            <a:gdLst/>
            <a:ahLst/>
            <a:cxnLst/>
            <a:rect r="r" b="b" t="t" l="l"/>
            <a:pathLst>
              <a:path h="8750775" w="8623491">
                <a:moveTo>
                  <a:pt x="8623491" y="8750775"/>
                </a:moveTo>
                <a:lnTo>
                  <a:pt x="0" y="8750775"/>
                </a:lnTo>
                <a:lnTo>
                  <a:pt x="0" y="0"/>
                </a:lnTo>
                <a:lnTo>
                  <a:pt x="8623491" y="0"/>
                </a:lnTo>
                <a:lnTo>
                  <a:pt x="8623491" y="8750775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6630940" y="3864288"/>
            <a:ext cx="8623491" cy="8750775"/>
          </a:xfrm>
          <a:custGeom>
            <a:avLst/>
            <a:gdLst/>
            <a:ahLst/>
            <a:cxnLst/>
            <a:rect r="r" b="b" t="t" l="l"/>
            <a:pathLst>
              <a:path h="8750775" w="8623491">
                <a:moveTo>
                  <a:pt x="0" y="0"/>
                </a:moveTo>
                <a:lnTo>
                  <a:pt x="8623491" y="0"/>
                </a:lnTo>
                <a:lnTo>
                  <a:pt x="8623491" y="8750775"/>
                </a:lnTo>
                <a:lnTo>
                  <a:pt x="0" y="87507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0800000">
            <a:off x="6125872" y="9311584"/>
            <a:ext cx="6036256" cy="3303478"/>
          </a:xfrm>
          <a:custGeom>
            <a:avLst/>
            <a:gdLst/>
            <a:ahLst/>
            <a:cxnLst/>
            <a:rect r="r" b="b" t="t" l="l"/>
            <a:pathLst>
              <a:path h="3303478" w="6036256">
                <a:moveTo>
                  <a:pt x="0" y="0"/>
                </a:moveTo>
                <a:lnTo>
                  <a:pt x="6036256" y="0"/>
                </a:lnTo>
                <a:lnTo>
                  <a:pt x="6036256" y="3303479"/>
                </a:lnTo>
                <a:lnTo>
                  <a:pt x="0" y="330347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878966" y="1710951"/>
            <a:ext cx="10379591" cy="6865098"/>
          </a:xfrm>
          <a:custGeom>
            <a:avLst/>
            <a:gdLst/>
            <a:ahLst/>
            <a:cxnLst/>
            <a:rect r="r" b="b" t="t" l="l"/>
            <a:pathLst>
              <a:path h="6865098" w="10379591">
                <a:moveTo>
                  <a:pt x="0" y="0"/>
                </a:moveTo>
                <a:lnTo>
                  <a:pt x="10379591" y="0"/>
                </a:lnTo>
                <a:lnTo>
                  <a:pt x="10379591" y="6865098"/>
                </a:lnTo>
                <a:lnTo>
                  <a:pt x="0" y="686509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9443" y="1608707"/>
            <a:ext cx="7314637" cy="162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7500">
                <a:solidFill>
                  <a:srgbClr val="0D1C38"/>
                </a:solidFill>
                <a:latin typeface="Roca One"/>
                <a:ea typeface="Roca One"/>
                <a:cs typeface="Roca One"/>
                <a:sym typeface="Roca One"/>
              </a:rPr>
              <a:t>System Diagrams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992551" y="3542025"/>
            <a:ext cx="4599185" cy="3401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b="true" sz="3499" spc="52">
                <a:solidFill>
                  <a:srgbClr val="0E182F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🗄️</a:t>
            </a:r>
            <a:r>
              <a:rPr lang="en-US" b="true" sz="3499" spc="52">
                <a:solidFill>
                  <a:srgbClr val="0E182F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 En</a:t>
            </a:r>
            <a:r>
              <a:rPr lang="en-US" b="true" sz="3499" spc="52">
                <a:solidFill>
                  <a:srgbClr val="0E182F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tity Relationship</a:t>
            </a:r>
          </a:p>
          <a:p>
            <a:pPr algn="ctr">
              <a:lnSpc>
                <a:spcPts val="4480"/>
              </a:lnSpc>
            </a:pPr>
          </a:p>
          <a:p>
            <a:pPr algn="ctr">
              <a:lnSpc>
                <a:spcPts val="4480"/>
              </a:lnSpc>
            </a:pPr>
            <a:r>
              <a:rPr lang="en-US" sz="3200" spc="48">
                <a:solidFill>
                  <a:srgbClr val="0E182F"/>
                </a:solidFill>
                <a:latin typeface="Assistant"/>
                <a:ea typeface="Assistant"/>
                <a:cs typeface="Assistant"/>
                <a:sym typeface="Assistant"/>
              </a:rPr>
              <a:t>Maps the data models and relationships between Users, Establishments, and Orders.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5597" t="0" r="-15597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9443" y="1028700"/>
            <a:ext cx="16229114" cy="8229600"/>
            <a:chOff x="0" y="0"/>
            <a:chExt cx="4274335" cy="21674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4334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334">
                  <a:moveTo>
                    <a:pt x="0" y="0"/>
                  </a:moveTo>
                  <a:lnTo>
                    <a:pt x="4274334" y="0"/>
                  </a:lnTo>
                  <a:lnTo>
                    <a:pt x="4274334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57150"/>
              <a:ext cx="4274335" cy="21103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1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true" flipV="true" rot="0">
            <a:off x="16310046" y="-2312817"/>
            <a:ext cx="8623491" cy="8750775"/>
          </a:xfrm>
          <a:custGeom>
            <a:avLst/>
            <a:gdLst/>
            <a:ahLst/>
            <a:cxnLst/>
            <a:rect r="r" b="b" t="t" l="l"/>
            <a:pathLst>
              <a:path h="8750775" w="8623491">
                <a:moveTo>
                  <a:pt x="8623491" y="8750775"/>
                </a:moveTo>
                <a:lnTo>
                  <a:pt x="0" y="8750775"/>
                </a:lnTo>
                <a:lnTo>
                  <a:pt x="0" y="0"/>
                </a:lnTo>
                <a:lnTo>
                  <a:pt x="8623491" y="0"/>
                </a:lnTo>
                <a:lnTo>
                  <a:pt x="8623491" y="8750775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6630940" y="3864288"/>
            <a:ext cx="8623491" cy="8750775"/>
          </a:xfrm>
          <a:custGeom>
            <a:avLst/>
            <a:gdLst/>
            <a:ahLst/>
            <a:cxnLst/>
            <a:rect r="r" b="b" t="t" l="l"/>
            <a:pathLst>
              <a:path h="8750775" w="8623491">
                <a:moveTo>
                  <a:pt x="0" y="0"/>
                </a:moveTo>
                <a:lnTo>
                  <a:pt x="8623491" y="0"/>
                </a:lnTo>
                <a:lnTo>
                  <a:pt x="8623491" y="8750775"/>
                </a:lnTo>
                <a:lnTo>
                  <a:pt x="0" y="87507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0800000">
            <a:off x="6125872" y="9311584"/>
            <a:ext cx="6036256" cy="3303478"/>
          </a:xfrm>
          <a:custGeom>
            <a:avLst/>
            <a:gdLst/>
            <a:ahLst/>
            <a:cxnLst/>
            <a:rect r="r" b="b" t="t" l="l"/>
            <a:pathLst>
              <a:path h="3303478" w="6036256">
                <a:moveTo>
                  <a:pt x="0" y="0"/>
                </a:moveTo>
                <a:lnTo>
                  <a:pt x="6036256" y="0"/>
                </a:lnTo>
                <a:lnTo>
                  <a:pt x="6036256" y="3303479"/>
                </a:lnTo>
                <a:lnTo>
                  <a:pt x="0" y="330347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824763" y="2370003"/>
            <a:ext cx="10433794" cy="5869673"/>
          </a:xfrm>
          <a:custGeom>
            <a:avLst/>
            <a:gdLst/>
            <a:ahLst/>
            <a:cxnLst/>
            <a:rect r="r" b="b" t="t" l="l"/>
            <a:pathLst>
              <a:path h="5869673" w="10433794">
                <a:moveTo>
                  <a:pt x="0" y="0"/>
                </a:moveTo>
                <a:lnTo>
                  <a:pt x="10433794" y="0"/>
                </a:lnTo>
                <a:lnTo>
                  <a:pt x="10433794" y="5869672"/>
                </a:lnTo>
                <a:lnTo>
                  <a:pt x="0" y="586967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9443" y="1608707"/>
            <a:ext cx="7314637" cy="162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7500">
                <a:solidFill>
                  <a:srgbClr val="0D1C38"/>
                </a:solidFill>
                <a:latin typeface="Roca One"/>
                <a:ea typeface="Roca One"/>
                <a:cs typeface="Roca One"/>
                <a:sym typeface="Roca One"/>
              </a:rPr>
              <a:t>System Diagrams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992551" y="3542025"/>
            <a:ext cx="4599185" cy="3401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b="true" sz="3499" spc="52">
                <a:solidFill>
                  <a:srgbClr val="0E182F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🔄</a:t>
            </a:r>
            <a:r>
              <a:rPr lang="en-US" b="true" sz="3499" spc="52">
                <a:solidFill>
                  <a:srgbClr val="0E182F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 D</a:t>
            </a:r>
            <a:r>
              <a:rPr lang="en-US" b="true" sz="3499" spc="52">
                <a:solidFill>
                  <a:srgbClr val="0E182F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ata Flow Diagram</a:t>
            </a:r>
          </a:p>
          <a:p>
            <a:pPr algn="ctr">
              <a:lnSpc>
                <a:spcPts val="4480"/>
              </a:lnSpc>
            </a:pPr>
          </a:p>
          <a:p>
            <a:pPr algn="ctr">
              <a:lnSpc>
                <a:spcPts val="4480"/>
              </a:lnSpc>
            </a:pPr>
            <a:r>
              <a:rPr lang="en-US" sz="3200" spc="48">
                <a:solidFill>
                  <a:srgbClr val="0E182F"/>
                </a:solidFill>
                <a:latin typeface="Assistant"/>
                <a:ea typeface="Assistant"/>
                <a:cs typeface="Assistant"/>
                <a:sym typeface="Assistant"/>
              </a:rPr>
              <a:t>Visualizes the movement of data from user requests through server logic to the database.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597" t="0" r="-15597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35271" y="4565874"/>
            <a:ext cx="5902101" cy="7974702"/>
            <a:chOff x="0" y="0"/>
            <a:chExt cx="7869467" cy="1063293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869467" cy="7869467"/>
            </a:xfrm>
            <a:custGeom>
              <a:avLst/>
              <a:gdLst/>
              <a:ahLst/>
              <a:cxnLst/>
              <a:rect r="r" b="b" t="t" l="l"/>
              <a:pathLst>
                <a:path h="7869467" w="7869467">
                  <a:moveTo>
                    <a:pt x="0" y="0"/>
                  </a:moveTo>
                  <a:lnTo>
                    <a:pt x="7869467" y="0"/>
                  </a:lnTo>
                  <a:lnTo>
                    <a:pt x="7869467" y="7869467"/>
                  </a:lnTo>
                  <a:lnTo>
                    <a:pt x="0" y="78694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313695" y="6497867"/>
              <a:ext cx="7555772" cy="4135068"/>
            </a:xfrm>
            <a:custGeom>
              <a:avLst/>
              <a:gdLst/>
              <a:ahLst/>
              <a:cxnLst/>
              <a:rect r="r" b="b" t="t" l="l"/>
              <a:pathLst>
                <a:path h="4135068" w="7555772">
                  <a:moveTo>
                    <a:pt x="0" y="0"/>
                  </a:moveTo>
                  <a:lnTo>
                    <a:pt x="7555772" y="0"/>
                  </a:lnTo>
                  <a:lnTo>
                    <a:pt x="7555772" y="4135069"/>
                  </a:lnTo>
                  <a:lnTo>
                    <a:pt x="0" y="4135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-10800000">
            <a:off x="12385899" y="-2268953"/>
            <a:ext cx="5902101" cy="7974702"/>
            <a:chOff x="0" y="0"/>
            <a:chExt cx="7869467" cy="1063293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869467" cy="7869467"/>
            </a:xfrm>
            <a:custGeom>
              <a:avLst/>
              <a:gdLst/>
              <a:ahLst/>
              <a:cxnLst/>
              <a:rect r="r" b="b" t="t" l="l"/>
              <a:pathLst>
                <a:path h="7869467" w="7869467">
                  <a:moveTo>
                    <a:pt x="0" y="0"/>
                  </a:moveTo>
                  <a:lnTo>
                    <a:pt x="7869467" y="0"/>
                  </a:lnTo>
                  <a:lnTo>
                    <a:pt x="7869467" y="7869467"/>
                  </a:lnTo>
                  <a:lnTo>
                    <a:pt x="0" y="78694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313695" y="6497867"/>
              <a:ext cx="7555772" cy="4135068"/>
            </a:xfrm>
            <a:custGeom>
              <a:avLst/>
              <a:gdLst/>
              <a:ahLst/>
              <a:cxnLst/>
              <a:rect r="r" b="b" t="t" l="l"/>
              <a:pathLst>
                <a:path h="4135068" w="7555772">
                  <a:moveTo>
                    <a:pt x="0" y="0"/>
                  </a:moveTo>
                  <a:lnTo>
                    <a:pt x="7555772" y="0"/>
                  </a:lnTo>
                  <a:lnTo>
                    <a:pt x="7555772" y="4135069"/>
                  </a:lnTo>
                  <a:lnTo>
                    <a:pt x="0" y="4135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-2672315" y="-776716"/>
            <a:ext cx="4054948" cy="4114800"/>
          </a:xfrm>
          <a:custGeom>
            <a:avLst/>
            <a:gdLst/>
            <a:ahLst/>
            <a:cxnLst/>
            <a:rect r="r" b="b" t="t" l="l"/>
            <a:pathLst>
              <a:path h="4114800" w="4054948">
                <a:moveTo>
                  <a:pt x="0" y="0"/>
                </a:moveTo>
                <a:lnTo>
                  <a:pt x="4054948" y="0"/>
                </a:lnTo>
                <a:lnTo>
                  <a:pt x="405494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true" rot="0">
            <a:off x="16884370" y="7044598"/>
            <a:ext cx="4054948" cy="4114800"/>
          </a:xfrm>
          <a:custGeom>
            <a:avLst/>
            <a:gdLst/>
            <a:ahLst/>
            <a:cxnLst/>
            <a:rect r="r" b="b" t="t" l="l"/>
            <a:pathLst>
              <a:path h="4114800" w="4054948">
                <a:moveTo>
                  <a:pt x="4054949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054949" y="0"/>
                </a:lnTo>
                <a:lnTo>
                  <a:pt x="4054949" y="411480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5341745" y="7195594"/>
            <a:ext cx="11542625" cy="177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3500" spc="52">
                <a:solidFill>
                  <a:srgbClr val="0D1C38"/>
                </a:solidFill>
                <a:latin typeface="Assistant"/>
                <a:ea typeface="Assistant"/>
                <a:cs typeface="Assistant"/>
                <a:sym typeface="Assistant"/>
              </a:rPr>
              <a:t>Campus Se</a:t>
            </a:r>
            <a:r>
              <a:rPr lang="en-US" sz="3500" spc="52">
                <a:solidFill>
                  <a:srgbClr val="0D1C38"/>
                </a:solidFill>
                <a:latin typeface="Assistant"/>
                <a:ea typeface="Assistant"/>
                <a:cs typeface="Assistant"/>
                <a:sym typeface="Assistant"/>
              </a:rPr>
              <a:t>rvice Hub is more than just a guide; it is a community-driven platform designed to empower students and support local entrepreneurs at Bicol University Polangui.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184272" y="2804569"/>
            <a:ext cx="9733360" cy="432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949"/>
              </a:lnSpc>
            </a:pPr>
            <a:r>
              <a:rPr lang="en-US" sz="15000">
                <a:solidFill>
                  <a:srgbClr val="0D1C38"/>
                </a:solidFill>
                <a:latin typeface="Roca One"/>
                <a:ea typeface="Roca One"/>
                <a:cs typeface="Roca One"/>
                <a:sym typeface="Roca One"/>
              </a:rPr>
              <a:t>THANK YOU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813536" y="1347359"/>
            <a:ext cx="5077923" cy="4372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1"/>
              </a:lnSpc>
            </a:pPr>
            <a:r>
              <a:rPr lang="en-US" sz="3341" spc="50">
                <a:solidFill>
                  <a:srgbClr val="0D1C38"/>
                </a:solidFill>
                <a:latin typeface="Assistant"/>
                <a:ea typeface="Assistant"/>
                <a:cs typeface="Assistant"/>
                <a:sym typeface="Assistant"/>
              </a:rPr>
              <a:t>Cod</a:t>
            </a:r>
            <a:r>
              <a:rPr lang="en-US" sz="3341" spc="50">
                <a:solidFill>
                  <a:srgbClr val="0D1C38"/>
                </a:solidFill>
                <a:latin typeface="Assistant"/>
                <a:ea typeface="Assistant"/>
                <a:cs typeface="Assistant"/>
                <a:sym typeface="Assistant"/>
              </a:rPr>
              <a:t>e&lt;breakers&gt; |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DAHJdj2vmt8</dc:identifier>
  <dcterms:modified xsi:type="dcterms:W3CDTF">2011-08-01T06:04:30Z</dcterms:modified>
  <cp:revision>1</cp:revision>
  <dc:title>Blue White Minimalist Modern Geometric Thesis Defense Presentation</dc:title>
</cp:coreProperties>
</file>