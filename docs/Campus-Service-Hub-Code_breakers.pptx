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</p:sldIdLst>
  <p:sldSz cx="18288000" cy="10287000"/>
  <p:notesSz cx="6858000" cy="9144000"/>
  <p:embeddedFontLst>
    <p:embeddedFont>
      <p:font typeface="Archivo Black" panose="020B0604020202020204" charset="0"/>
      <p:regular r:id="rId11"/>
    </p:embeddedFont>
    <p:embeddedFont>
      <p:font typeface="Assistant" pitchFamily="2" charset="-79"/>
      <p:regular r:id="rId12"/>
    </p:embeddedFont>
    <p:embeddedFont>
      <p:font typeface="Assistant Bold" panose="020B0604020202020204" charset="-79"/>
      <p:regular r:id="rId13"/>
    </p:embeddedFont>
    <p:embeddedFont>
      <p:font typeface="Canva Sans Bold" panose="020B0604020202020204" charset="0"/>
      <p:regular r:id="rId14"/>
    </p:embeddedFont>
    <p:embeddedFont>
      <p:font typeface="Poppins" panose="00000500000000000000" pitchFamily="2" charset="0"/>
      <p:regular r:id="rId15"/>
    </p:embeddedFont>
    <p:embeddedFont>
      <p:font typeface="Poppins Bold" panose="00000800000000000000" charset="0"/>
      <p:regular r:id="rId16"/>
    </p:embeddedFont>
    <p:embeddedFont>
      <p:font typeface="Poppins Bold Italic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658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611945">
            <a:off x="14458950" y="4723039"/>
            <a:ext cx="7658100" cy="5426529"/>
            <a:chOff x="0" y="0"/>
            <a:chExt cx="2016948" cy="142920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16948" cy="1429209"/>
            </a:xfrm>
            <a:custGeom>
              <a:avLst/>
              <a:gdLst/>
              <a:ahLst/>
              <a:cxnLst/>
              <a:rect l="l" t="t" r="r" b="b"/>
              <a:pathLst>
                <a:path w="2016948" h="1429209">
                  <a:moveTo>
                    <a:pt x="51558" y="0"/>
                  </a:moveTo>
                  <a:lnTo>
                    <a:pt x="1965390" y="0"/>
                  </a:lnTo>
                  <a:cubicBezTo>
                    <a:pt x="1979064" y="0"/>
                    <a:pt x="1992178" y="5432"/>
                    <a:pt x="2001847" y="15101"/>
                  </a:cubicBezTo>
                  <a:cubicBezTo>
                    <a:pt x="2011516" y="24770"/>
                    <a:pt x="2016948" y="37884"/>
                    <a:pt x="2016948" y="51558"/>
                  </a:cubicBezTo>
                  <a:lnTo>
                    <a:pt x="2016948" y="1377651"/>
                  </a:lnTo>
                  <a:cubicBezTo>
                    <a:pt x="2016948" y="1391325"/>
                    <a:pt x="2011516" y="1404439"/>
                    <a:pt x="2001847" y="1414108"/>
                  </a:cubicBezTo>
                  <a:cubicBezTo>
                    <a:pt x="1992178" y="1423777"/>
                    <a:pt x="1979064" y="1429209"/>
                    <a:pt x="1965390" y="1429209"/>
                  </a:cubicBezTo>
                  <a:lnTo>
                    <a:pt x="51558" y="1429209"/>
                  </a:lnTo>
                  <a:cubicBezTo>
                    <a:pt x="37884" y="1429209"/>
                    <a:pt x="24770" y="1423777"/>
                    <a:pt x="15101" y="1414108"/>
                  </a:cubicBezTo>
                  <a:cubicBezTo>
                    <a:pt x="5432" y="1404439"/>
                    <a:pt x="0" y="1391325"/>
                    <a:pt x="0" y="1377651"/>
                  </a:cubicBezTo>
                  <a:lnTo>
                    <a:pt x="0" y="51558"/>
                  </a:lnTo>
                  <a:cubicBezTo>
                    <a:pt x="0" y="37884"/>
                    <a:pt x="5432" y="24770"/>
                    <a:pt x="15101" y="15101"/>
                  </a:cubicBezTo>
                  <a:cubicBezTo>
                    <a:pt x="24770" y="5432"/>
                    <a:pt x="37884" y="0"/>
                    <a:pt x="51558" y="0"/>
                  </a:cubicBez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33375"/>
              <a:ext cx="2016948" cy="17625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611945">
            <a:off x="-614581" y="-1866767"/>
            <a:ext cx="3031341" cy="2798456"/>
            <a:chOff x="0" y="0"/>
            <a:chExt cx="798378" cy="7370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98378" cy="737042"/>
            </a:xfrm>
            <a:custGeom>
              <a:avLst/>
              <a:gdLst/>
              <a:ahLst/>
              <a:cxnLst/>
              <a:rect l="l" t="t" r="r" b="b"/>
              <a:pathLst>
                <a:path w="798378" h="737042">
                  <a:moveTo>
                    <a:pt x="130252" y="0"/>
                  </a:moveTo>
                  <a:lnTo>
                    <a:pt x="668126" y="0"/>
                  </a:lnTo>
                  <a:cubicBezTo>
                    <a:pt x="702671" y="0"/>
                    <a:pt x="735801" y="13723"/>
                    <a:pt x="760228" y="38150"/>
                  </a:cubicBezTo>
                  <a:cubicBezTo>
                    <a:pt x="784655" y="62577"/>
                    <a:pt x="798378" y="95707"/>
                    <a:pt x="798378" y="130252"/>
                  </a:cubicBezTo>
                  <a:lnTo>
                    <a:pt x="798378" y="606790"/>
                  </a:lnTo>
                  <a:cubicBezTo>
                    <a:pt x="798378" y="678726"/>
                    <a:pt x="740062" y="737042"/>
                    <a:pt x="668126" y="737042"/>
                  </a:cubicBezTo>
                  <a:lnTo>
                    <a:pt x="130252" y="737042"/>
                  </a:lnTo>
                  <a:cubicBezTo>
                    <a:pt x="58316" y="737042"/>
                    <a:pt x="0" y="678726"/>
                    <a:pt x="0" y="606790"/>
                  </a:cubicBezTo>
                  <a:lnTo>
                    <a:pt x="0" y="130252"/>
                  </a:lnTo>
                  <a:cubicBezTo>
                    <a:pt x="0" y="58316"/>
                    <a:pt x="58316" y="0"/>
                    <a:pt x="130252" y="0"/>
                  </a:cubicBez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33375"/>
              <a:ext cx="798378" cy="1070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611945">
            <a:off x="12055325" y="9566947"/>
            <a:ext cx="3031341" cy="2798456"/>
            <a:chOff x="0" y="0"/>
            <a:chExt cx="798378" cy="73704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98378" cy="737042"/>
            </a:xfrm>
            <a:custGeom>
              <a:avLst/>
              <a:gdLst/>
              <a:ahLst/>
              <a:cxnLst/>
              <a:rect l="l" t="t" r="r" b="b"/>
              <a:pathLst>
                <a:path w="798378" h="737042">
                  <a:moveTo>
                    <a:pt x="130252" y="0"/>
                  </a:moveTo>
                  <a:lnTo>
                    <a:pt x="668126" y="0"/>
                  </a:lnTo>
                  <a:cubicBezTo>
                    <a:pt x="702671" y="0"/>
                    <a:pt x="735801" y="13723"/>
                    <a:pt x="760228" y="38150"/>
                  </a:cubicBezTo>
                  <a:cubicBezTo>
                    <a:pt x="784655" y="62577"/>
                    <a:pt x="798378" y="95707"/>
                    <a:pt x="798378" y="130252"/>
                  </a:cubicBezTo>
                  <a:lnTo>
                    <a:pt x="798378" y="606790"/>
                  </a:lnTo>
                  <a:cubicBezTo>
                    <a:pt x="798378" y="678726"/>
                    <a:pt x="740062" y="737042"/>
                    <a:pt x="668126" y="737042"/>
                  </a:cubicBezTo>
                  <a:lnTo>
                    <a:pt x="130252" y="737042"/>
                  </a:lnTo>
                  <a:cubicBezTo>
                    <a:pt x="58316" y="737042"/>
                    <a:pt x="0" y="678726"/>
                    <a:pt x="0" y="606790"/>
                  </a:cubicBezTo>
                  <a:lnTo>
                    <a:pt x="0" y="130252"/>
                  </a:lnTo>
                  <a:cubicBezTo>
                    <a:pt x="0" y="58316"/>
                    <a:pt x="58316" y="0"/>
                    <a:pt x="130252" y="0"/>
                  </a:cubicBezTo>
                  <a:close/>
                </a:path>
              </a:pathLst>
            </a:custGeom>
            <a:solidFill>
              <a:srgbClr val="C27F7F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33375"/>
              <a:ext cx="798378" cy="1070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11" name="AutoShape 11"/>
          <p:cNvSpPr/>
          <p:nvPr/>
        </p:nvSpPr>
        <p:spPr>
          <a:xfrm>
            <a:off x="2134306" y="6197846"/>
            <a:ext cx="8918179" cy="19050"/>
          </a:xfrm>
          <a:prstGeom prst="line">
            <a:avLst/>
          </a:prstGeom>
          <a:ln w="47625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  <p:grpSp>
        <p:nvGrpSpPr>
          <p:cNvPr id="12" name="Group 12"/>
          <p:cNvGrpSpPr/>
          <p:nvPr/>
        </p:nvGrpSpPr>
        <p:grpSpPr>
          <a:xfrm rot="-2611945">
            <a:off x="12744473" y="42362"/>
            <a:ext cx="8101900" cy="3702724"/>
            <a:chOff x="0" y="0"/>
            <a:chExt cx="2133834" cy="97520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133834" cy="975203"/>
            </a:xfrm>
            <a:custGeom>
              <a:avLst/>
              <a:gdLst/>
              <a:ahLst/>
              <a:cxnLst/>
              <a:rect l="l" t="t" r="r" b="b"/>
              <a:pathLst>
                <a:path w="2133834" h="975203">
                  <a:moveTo>
                    <a:pt x="48734" y="0"/>
                  </a:moveTo>
                  <a:lnTo>
                    <a:pt x="2085100" y="0"/>
                  </a:lnTo>
                  <a:cubicBezTo>
                    <a:pt x="2112015" y="0"/>
                    <a:pt x="2133834" y="21819"/>
                    <a:pt x="2133834" y="48734"/>
                  </a:cubicBezTo>
                  <a:lnTo>
                    <a:pt x="2133834" y="926469"/>
                  </a:lnTo>
                  <a:cubicBezTo>
                    <a:pt x="2133834" y="953384"/>
                    <a:pt x="2112015" y="975203"/>
                    <a:pt x="2085100" y="975203"/>
                  </a:cubicBezTo>
                  <a:lnTo>
                    <a:pt x="48734" y="975203"/>
                  </a:lnTo>
                  <a:cubicBezTo>
                    <a:pt x="21819" y="975203"/>
                    <a:pt x="0" y="953384"/>
                    <a:pt x="0" y="926469"/>
                  </a:cubicBezTo>
                  <a:lnTo>
                    <a:pt x="0" y="48734"/>
                  </a:lnTo>
                  <a:cubicBezTo>
                    <a:pt x="0" y="21819"/>
                    <a:pt x="21819" y="0"/>
                    <a:pt x="48734" y="0"/>
                  </a:cubicBezTo>
                  <a:close/>
                </a:path>
              </a:pathLst>
            </a:custGeom>
            <a:solidFill>
              <a:srgbClr val="C27F7F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33375"/>
              <a:ext cx="2133834" cy="13085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 rot="-2789597">
            <a:off x="3022879" y="1307360"/>
            <a:ext cx="606050" cy="530294"/>
            <a:chOff x="0" y="0"/>
            <a:chExt cx="812800" cy="711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7000" y="-3175"/>
              <a:ext cx="558800" cy="663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996183" y="2756863"/>
            <a:ext cx="14295634" cy="1884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26"/>
              </a:lnSpc>
            </a:pPr>
            <a:r>
              <a:rPr lang="en-US" sz="10947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CAMPUS SERVICE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134255" y="4314131"/>
            <a:ext cx="9524466" cy="1711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26"/>
              </a:lnSpc>
            </a:pPr>
            <a:r>
              <a:rPr lang="en-US" sz="12047" b="1" spc="2457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HUB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011301" y="7697574"/>
            <a:ext cx="5232878" cy="1912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699" spc="134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IT112 – Web Systems Technologies | BSIT-2B</a:t>
            </a:r>
          </a:p>
          <a:p>
            <a:pPr algn="ctr">
              <a:lnSpc>
                <a:spcPts val="3779"/>
              </a:lnSpc>
            </a:pPr>
            <a:r>
              <a:rPr lang="en-US" sz="2699" spc="134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2nd Sem</a:t>
            </a:r>
          </a:p>
          <a:p>
            <a:pPr algn="l">
              <a:lnSpc>
                <a:spcPts val="3779"/>
              </a:lnSpc>
            </a:pPr>
            <a:endParaRPr lang="en-US" sz="2699" spc="134">
              <a:solidFill>
                <a:srgbClr val="2E2E2E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3934373" y="1275233"/>
            <a:ext cx="4471732" cy="618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Code&lt;breakers&gt;</a:t>
            </a:r>
          </a:p>
        </p:txBody>
      </p:sp>
      <p:grpSp>
        <p:nvGrpSpPr>
          <p:cNvPr id="22" name="Group 22"/>
          <p:cNvGrpSpPr/>
          <p:nvPr/>
        </p:nvGrpSpPr>
        <p:grpSpPr>
          <a:xfrm rot="-2789597">
            <a:off x="3271634" y="1536595"/>
            <a:ext cx="431165" cy="377270"/>
            <a:chOff x="0" y="0"/>
            <a:chExt cx="812800" cy="711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C27F7F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7000" y="-3175"/>
              <a:ext cx="558800" cy="663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 rot="-2611945">
            <a:off x="10808920" y="-3972270"/>
            <a:ext cx="8101900" cy="3702724"/>
            <a:chOff x="0" y="0"/>
            <a:chExt cx="2133834" cy="975203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33834" cy="975203"/>
            </a:xfrm>
            <a:custGeom>
              <a:avLst/>
              <a:gdLst/>
              <a:ahLst/>
              <a:cxnLst/>
              <a:rect l="l" t="t" r="r" b="b"/>
              <a:pathLst>
                <a:path w="2133834" h="975203">
                  <a:moveTo>
                    <a:pt x="48734" y="0"/>
                  </a:moveTo>
                  <a:lnTo>
                    <a:pt x="2085100" y="0"/>
                  </a:lnTo>
                  <a:cubicBezTo>
                    <a:pt x="2112015" y="0"/>
                    <a:pt x="2133834" y="21819"/>
                    <a:pt x="2133834" y="48734"/>
                  </a:cubicBezTo>
                  <a:lnTo>
                    <a:pt x="2133834" y="926469"/>
                  </a:lnTo>
                  <a:cubicBezTo>
                    <a:pt x="2133834" y="953384"/>
                    <a:pt x="2112015" y="975203"/>
                    <a:pt x="2085100" y="975203"/>
                  </a:cubicBezTo>
                  <a:lnTo>
                    <a:pt x="48734" y="975203"/>
                  </a:lnTo>
                  <a:cubicBezTo>
                    <a:pt x="21819" y="975203"/>
                    <a:pt x="0" y="953384"/>
                    <a:pt x="0" y="926469"/>
                  </a:cubicBezTo>
                  <a:lnTo>
                    <a:pt x="0" y="48734"/>
                  </a:lnTo>
                  <a:cubicBezTo>
                    <a:pt x="0" y="21819"/>
                    <a:pt x="21819" y="0"/>
                    <a:pt x="48734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33375"/>
              <a:ext cx="2133834" cy="13085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 rot="-2611945">
            <a:off x="-6128725" y="8307085"/>
            <a:ext cx="8101900" cy="3702724"/>
            <a:chOff x="0" y="0"/>
            <a:chExt cx="2133834" cy="975203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33834" cy="975203"/>
            </a:xfrm>
            <a:custGeom>
              <a:avLst/>
              <a:gdLst/>
              <a:ahLst/>
              <a:cxnLst/>
              <a:rect l="l" t="t" r="r" b="b"/>
              <a:pathLst>
                <a:path w="2133834" h="975203">
                  <a:moveTo>
                    <a:pt x="48734" y="0"/>
                  </a:moveTo>
                  <a:lnTo>
                    <a:pt x="2085100" y="0"/>
                  </a:lnTo>
                  <a:cubicBezTo>
                    <a:pt x="2112015" y="0"/>
                    <a:pt x="2133834" y="21819"/>
                    <a:pt x="2133834" y="48734"/>
                  </a:cubicBezTo>
                  <a:lnTo>
                    <a:pt x="2133834" y="926469"/>
                  </a:lnTo>
                  <a:cubicBezTo>
                    <a:pt x="2133834" y="953384"/>
                    <a:pt x="2112015" y="975203"/>
                    <a:pt x="2085100" y="975203"/>
                  </a:cubicBezTo>
                  <a:lnTo>
                    <a:pt x="48734" y="975203"/>
                  </a:lnTo>
                  <a:cubicBezTo>
                    <a:pt x="21819" y="975203"/>
                    <a:pt x="0" y="953384"/>
                    <a:pt x="0" y="926469"/>
                  </a:cubicBezTo>
                  <a:lnTo>
                    <a:pt x="0" y="48734"/>
                  </a:lnTo>
                  <a:cubicBezTo>
                    <a:pt x="0" y="21819"/>
                    <a:pt x="21819" y="0"/>
                    <a:pt x="48734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33375"/>
              <a:ext cx="2133834" cy="13085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31" name="AutoShape 31"/>
          <p:cNvSpPr/>
          <p:nvPr/>
        </p:nvSpPr>
        <p:spPr>
          <a:xfrm>
            <a:off x="5941640" y="6207371"/>
            <a:ext cx="8918179" cy="19050"/>
          </a:xfrm>
          <a:prstGeom prst="line">
            <a:avLst/>
          </a:prstGeom>
          <a:ln w="47625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3503507">
            <a:off x="8249399" y="1316288"/>
            <a:ext cx="12583451" cy="6795882"/>
            <a:chOff x="0" y="0"/>
            <a:chExt cx="3314160" cy="178986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14160" cy="1789862"/>
            </a:xfrm>
            <a:custGeom>
              <a:avLst/>
              <a:gdLst/>
              <a:ahLst/>
              <a:cxnLst/>
              <a:rect l="l" t="t" r="r" b="b"/>
              <a:pathLst>
                <a:path w="3314160" h="1789862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758484"/>
                  </a:lnTo>
                  <a:cubicBezTo>
                    <a:pt x="3314160" y="1775814"/>
                    <a:pt x="3300112" y="1789862"/>
                    <a:pt x="3282783" y="1789862"/>
                  </a:cubicBezTo>
                  <a:lnTo>
                    <a:pt x="31378" y="1789862"/>
                  </a:lnTo>
                  <a:cubicBezTo>
                    <a:pt x="14048" y="1789862"/>
                    <a:pt x="0" y="1775814"/>
                    <a:pt x="0" y="1758484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33375"/>
              <a:ext cx="3314160" cy="21232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428400" y="1493268"/>
            <a:ext cx="6830900" cy="7300465"/>
            <a:chOff x="0" y="0"/>
            <a:chExt cx="1799085" cy="192275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99085" cy="1922756"/>
            </a:xfrm>
            <a:custGeom>
              <a:avLst/>
              <a:gdLst/>
              <a:ahLst/>
              <a:cxnLst/>
              <a:rect l="l" t="t" r="r" b="b"/>
              <a:pathLst>
                <a:path w="1799085" h="1922756">
                  <a:moveTo>
                    <a:pt x="57802" y="0"/>
                  </a:moveTo>
                  <a:lnTo>
                    <a:pt x="1741283" y="0"/>
                  </a:lnTo>
                  <a:cubicBezTo>
                    <a:pt x="1756613" y="0"/>
                    <a:pt x="1771315" y="6090"/>
                    <a:pt x="1782155" y="16930"/>
                  </a:cubicBezTo>
                  <a:cubicBezTo>
                    <a:pt x="1792995" y="27770"/>
                    <a:pt x="1799085" y="42472"/>
                    <a:pt x="1799085" y="57802"/>
                  </a:cubicBezTo>
                  <a:lnTo>
                    <a:pt x="1799085" y="1864955"/>
                  </a:lnTo>
                  <a:cubicBezTo>
                    <a:pt x="1799085" y="1896878"/>
                    <a:pt x="1773206" y="1922756"/>
                    <a:pt x="1741283" y="1922756"/>
                  </a:cubicBezTo>
                  <a:lnTo>
                    <a:pt x="57802" y="1922756"/>
                  </a:lnTo>
                  <a:cubicBezTo>
                    <a:pt x="25879" y="1922756"/>
                    <a:pt x="0" y="1896878"/>
                    <a:pt x="0" y="1864955"/>
                  </a:cubicBezTo>
                  <a:lnTo>
                    <a:pt x="0" y="57802"/>
                  </a:lnTo>
                  <a:cubicBezTo>
                    <a:pt x="0" y="25879"/>
                    <a:pt x="25879" y="0"/>
                    <a:pt x="57802" y="0"/>
                  </a:cubicBezTo>
                  <a:close/>
                </a:path>
              </a:pathLst>
            </a:custGeom>
            <a:solidFill>
              <a:srgbClr val="8D2B2B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33375"/>
              <a:ext cx="1799085" cy="22561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8" name="AutoShape 8"/>
          <p:cNvSpPr/>
          <p:nvPr/>
        </p:nvSpPr>
        <p:spPr>
          <a:xfrm>
            <a:off x="-2185362" y="3210262"/>
            <a:ext cx="8918179" cy="190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  <p:grpSp>
        <p:nvGrpSpPr>
          <p:cNvPr id="9" name="Group 9"/>
          <p:cNvGrpSpPr/>
          <p:nvPr/>
        </p:nvGrpSpPr>
        <p:grpSpPr>
          <a:xfrm>
            <a:off x="10804860" y="1888814"/>
            <a:ext cx="6077981" cy="6509372"/>
            <a:chOff x="0" y="0"/>
            <a:chExt cx="787019" cy="84287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87019" cy="842878"/>
            </a:xfrm>
            <a:custGeom>
              <a:avLst/>
              <a:gdLst/>
              <a:ahLst/>
              <a:cxnLst/>
              <a:rect l="l" t="t" r="r" b="b"/>
              <a:pathLst>
                <a:path w="787019" h="842878">
                  <a:moveTo>
                    <a:pt x="0" y="0"/>
                  </a:moveTo>
                  <a:lnTo>
                    <a:pt x="787019" y="0"/>
                  </a:lnTo>
                  <a:lnTo>
                    <a:pt x="787019" y="842878"/>
                  </a:lnTo>
                  <a:lnTo>
                    <a:pt x="0" y="842878"/>
                  </a:lnTo>
                  <a:close/>
                </a:path>
              </a:pathLst>
            </a:custGeom>
            <a:blipFill>
              <a:blip r:embed="rId2"/>
              <a:stretch>
                <a:fillRect l="-12691" r="-12691"/>
              </a:stretch>
            </a:blipFill>
          </p:spPr>
          <p:txBody>
            <a:bodyPr/>
            <a:lstStyle/>
            <a:p>
              <a:endParaRPr lang="en-PH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115297" y="1143000"/>
            <a:ext cx="4338890" cy="7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0"/>
              </a:lnSpc>
            </a:pPr>
            <a:r>
              <a:rPr lang="en-US" sz="59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PROJECT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15297" y="2007880"/>
            <a:ext cx="7827268" cy="101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sz="7100" b="1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INTRODUCTION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1923" y="3625215"/>
            <a:ext cx="9096215" cy="5633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455"/>
              </a:lnSpc>
              <a:spcBef>
                <a:spcPct val="0"/>
              </a:spcBef>
            </a:pPr>
            <a:r>
              <a:rPr lang="en-US" sz="3300" spc="102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      Ca</a:t>
            </a:r>
            <a:r>
              <a:rPr lang="en-US" sz="3300" u="none" spc="102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mpus Hub is an interactive web-based e-commerce platform proposed for Bicol University Polangui that serves as a centralized digital marketplace for Entrepreneurship student businesses.</a:t>
            </a:r>
          </a:p>
          <a:p>
            <a:pPr marL="0" lvl="0" indent="0" algn="just">
              <a:lnSpc>
                <a:spcPts val="4455"/>
              </a:lnSpc>
              <a:spcBef>
                <a:spcPct val="0"/>
              </a:spcBef>
            </a:pPr>
            <a:r>
              <a:rPr lang="en-US" sz="3300" u="none" spc="102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       The platform allows students to promote and sell products and services online while providing customers with a convenient and accessible shopping experience.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E976EA2-A053-5638-D6A9-7C4ABC745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7798" y="1888814"/>
            <a:ext cx="6212069" cy="65093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3503507">
            <a:off x="13337535" y="-2150283"/>
            <a:ext cx="6972581" cy="4300566"/>
            <a:chOff x="0" y="0"/>
            <a:chExt cx="1836400" cy="113265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36400" cy="1132659"/>
            </a:xfrm>
            <a:custGeom>
              <a:avLst/>
              <a:gdLst/>
              <a:ahLst/>
              <a:cxnLst/>
              <a:rect l="l" t="t" r="r" b="b"/>
              <a:pathLst>
                <a:path w="1836400" h="1132659">
                  <a:moveTo>
                    <a:pt x="56627" y="0"/>
                  </a:moveTo>
                  <a:lnTo>
                    <a:pt x="1779773" y="0"/>
                  </a:lnTo>
                  <a:cubicBezTo>
                    <a:pt x="1794791" y="0"/>
                    <a:pt x="1809195" y="5966"/>
                    <a:pt x="1819814" y="16586"/>
                  </a:cubicBezTo>
                  <a:cubicBezTo>
                    <a:pt x="1830434" y="27205"/>
                    <a:pt x="1836400" y="41609"/>
                    <a:pt x="1836400" y="56627"/>
                  </a:cubicBezTo>
                  <a:lnTo>
                    <a:pt x="1836400" y="1076032"/>
                  </a:lnTo>
                  <a:cubicBezTo>
                    <a:pt x="1836400" y="1107306"/>
                    <a:pt x="1811047" y="1132659"/>
                    <a:pt x="1779773" y="1132659"/>
                  </a:cubicBezTo>
                  <a:lnTo>
                    <a:pt x="56627" y="1132659"/>
                  </a:lnTo>
                  <a:cubicBezTo>
                    <a:pt x="25353" y="1132659"/>
                    <a:pt x="0" y="1107306"/>
                    <a:pt x="0" y="1076032"/>
                  </a:cubicBezTo>
                  <a:lnTo>
                    <a:pt x="0" y="56627"/>
                  </a:lnTo>
                  <a:cubicBezTo>
                    <a:pt x="0" y="25353"/>
                    <a:pt x="25353" y="0"/>
                    <a:pt x="56627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33375"/>
              <a:ext cx="1836400" cy="14660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3503507">
            <a:off x="-1894632" y="9084462"/>
            <a:ext cx="6972581" cy="4300566"/>
            <a:chOff x="0" y="0"/>
            <a:chExt cx="1836400" cy="113265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836400" cy="1132659"/>
            </a:xfrm>
            <a:custGeom>
              <a:avLst/>
              <a:gdLst/>
              <a:ahLst/>
              <a:cxnLst/>
              <a:rect l="l" t="t" r="r" b="b"/>
              <a:pathLst>
                <a:path w="1836400" h="1132659">
                  <a:moveTo>
                    <a:pt x="56627" y="0"/>
                  </a:moveTo>
                  <a:lnTo>
                    <a:pt x="1779773" y="0"/>
                  </a:lnTo>
                  <a:cubicBezTo>
                    <a:pt x="1794791" y="0"/>
                    <a:pt x="1809195" y="5966"/>
                    <a:pt x="1819814" y="16586"/>
                  </a:cubicBezTo>
                  <a:cubicBezTo>
                    <a:pt x="1830434" y="27205"/>
                    <a:pt x="1836400" y="41609"/>
                    <a:pt x="1836400" y="56627"/>
                  </a:cubicBezTo>
                  <a:lnTo>
                    <a:pt x="1836400" y="1076032"/>
                  </a:lnTo>
                  <a:cubicBezTo>
                    <a:pt x="1836400" y="1107306"/>
                    <a:pt x="1811047" y="1132659"/>
                    <a:pt x="1779773" y="1132659"/>
                  </a:cubicBezTo>
                  <a:lnTo>
                    <a:pt x="56627" y="1132659"/>
                  </a:lnTo>
                  <a:cubicBezTo>
                    <a:pt x="25353" y="1132659"/>
                    <a:pt x="0" y="1107306"/>
                    <a:pt x="0" y="1076032"/>
                  </a:cubicBezTo>
                  <a:lnTo>
                    <a:pt x="0" y="56627"/>
                  </a:lnTo>
                  <a:cubicBezTo>
                    <a:pt x="0" y="25353"/>
                    <a:pt x="25353" y="0"/>
                    <a:pt x="56627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33375"/>
              <a:ext cx="1836400" cy="14660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91658" y="3466379"/>
            <a:ext cx="15232167" cy="5534329"/>
            <a:chOff x="0" y="0"/>
            <a:chExt cx="4011764" cy="145760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011764" cy="1457601"/>
            </a:xfrm>
            <a:custGeom>
              <a:avLst/>
              <a:gdLst/>
              <a:ahLst/>
              <a:cxnLst/>
              <a:rect l="l" t="t" r="r" b="b"/>
              <a:pathLst>
                <a:path w="4011764" h="1457601">
                  <a:moveTo>
                    <a:pt x="0" y="0"/>
                  </a:moveTo>
                  <a:lnTo>
                    <a:pt x="4011764" y="0"/>
                  </a:lnTo>
                  <a:lnTo>
                    <a:pt x="4011764" y="1457601"/>
                  </a:lnTo>
                  <a:lnTo>
                    <a:pt x="0" y="145760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PH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011764" cy="15052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826433" y="1446638"/>
            <a:ext cx="10635133" cy="1109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00"/>
              </a:lnSpc>
            </a:pPr>
            <a:r>
              <a:rPr lang="en-US" sz="77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TECHNOLOGY STACK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2488981" y="356519"/>
            <a:ext cx="5565113" cy="672181"/>
            <a:chOff x="0" y="0"/>
            <a:chExt cx="1465709" cy="17703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65709" cy="177035"/>
            </a:xfrm>
            <a:custGeom>
              <a:avLst/>
              <a:gdLst/>
              <a:ahLst/>
              <a:cxnLst/>
              <a:rect l="l" t="t" r="r" b="b"/>
              <a:pathLst>
                <a:path w="1465709" h="177035">
                  <a:moveTo>
                    <a:pt x="70949" y="0"/>
                  </a:moveTo>
                  <a:lnTo>
                    <a:pt x="1394760" y="0"/>
                  </a:lnTo>
                  <a:cubicBezTo>
                    <a:pt x="1433944" y="0"/>
                    <a:pt x="1465709" y="31765"/>
                    <a:pt x="1465709" y="70949"/>
                  </a:cubicBezTo>
                  <a:lnTo>
                    <a:pt x="1465709" y="106086"/>
                  </a:lnTo>
                  <a:cubicBezTo>
                    <a:pt x="1465709" y="145270"/>
                    <a:pt x="1433944" y="177035"/>
                    <a:pt x="1394760" y="177035"/>
                  </a:cubicBezTo>
                  <a:lnTo>
                    <a:pt x="70949" y="177035"/>
                  </a:lnTo>
                  <a:cubicBezTo>
                    <a:pt x="31765" y="177035"/>
                    <a:pt x="0" y="145270"/>
                    <a:pt x="0" y="106086"/>
                  </a:cubicBezTo>
                  <a:lnTo>
                    <a:pt x="0" y="70949"/>
                  </a:lnTo>
                  <a:cubicBezTo>
                    <a:pt x="0" y="31765"/>
                    <a:pt x="31765" y="0"/>
                    <a:pt x="70949" y="0"/>
                  </a:cubicBez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33375"/>
              <a:ext cx="1465709" cy="5104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476744" y="9258300"/>
            <a:ext cx="5565113" cy="672181"/>
            <a:chOff x="0" y="0"/>
            <a:chExt cx="1465709" cy="17703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5709" cy="177035"/>
            </a:xfrm>
            <a:custGeom>
              <a:avLst/>
              <a:gdLst/>
              <a:ahLst/>
              <a:cxnLst/>
              <a:rect l="l" t="t" r="r" b="b"/>
              <a:pathLst>
                <a:path w="1465709" h="177035">
                  <a:moveTo>
                    <a:pt x="70949" y="0"/>
                  </a:moveTo>
                  <a:lnTo>
                    <a:pt x="1394760" y="0"/>
                  </a:lnTo>
                  <a:cubicBezTo>
                    <a:pt x="1433944" y="0"/>
                    <a:pt x="1465709" y="31765"/>
                    <a:pt x="1465709" y="70949"/>
                  </a:cubicBezTo>
                  <a:lnTo>
                    <a:pt x="1465709" y="106086"/>
                  </a:lnTo>
                  <a:cubicBezTo>
                    <a:pt x="1465709" y="145270"/>
                    <a:pt x="1433944" y="177035"/>
                    <a:pt x="1394760" y="177035"/>
                  </a:cubicBezTo>
                  <a:lnTo>
                    <a:pt x="70949" y="177035"/>
                  </a:lnTo>
                  <a:cubicBezTo>
                    <a:pt x="31765" y="177035"/>
                    <a:pt x="0" y="145270"/>
                    <a:pt x="0" y="106086"/>
                  </a:cubicBezTo>
                  <a:lnTo>
                    <a:pt x="0" y="70949"/>
                  </a:lnTo>
                  <a:cubicBezTo>
                    <a:pt x="0" y="31765"/>
                    <a:pt x="31765" y="0"/>
                    <a:pt x="70949" y="0"/>
                  </a:cubicBez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33375"/>
              <a:ext cx="1465709" cy="5104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18" name="AutoShape 18"/>
          <p:cNvSpPr/>
          <p:nvPr/>
        </p:nvSpPr>
        <p:spPr>
          <a:xfrm>
            <a:off x="4684910" y="2847139"/>
            <a:ext cx="8918179" cy="190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Box 19"/>
          <p:cNvSpPr txBox="1"/>
          <p:nvPr/>
        </p:nvSpPr>
        <p:spPr>
          <a:xfrm>
            <a:off x="2594263" y="4861549"/>
            <a:ext cx="3340656" cy="2277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b="1" spc="52">
                <a:solidFill>
                  <a:srgbClr val="0E182F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&lt;/&gt; Frontend</a:t>
            </a:r>
          </a:p>
          <a:p>
            <a:pPr algn="ctr">
              <a:lnSpc>
                <a:spcPts val="4480"/>
              </a:lnSpc>
            </a:pPr>
            <a:r>
              <a:rPr lang="en-US" sz="3200" spc="48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HTML5, CSS3</a:t>
            </a:r>
          </a:p>
          <a:p>
            <a:pPr algn="ctr">
              <a:lnSpc>
                <a:spcPts val="4480"/>
              </a:lnSpc>
            </a:pPr>
            <a:r>
              <a:rPr lang="en-US" sz="3200" spc="48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Tailwind CSS</a:t>
            </a:r>
          </a:p>
          <a:p>
            <a:pPr algn="ctr">
              <a:lnSpc>
                <a:spcPts val="4480"/>
              </a:lnSpc>
            </a:pPr>
            <a:r>
              <a:rPr lang="en-US" sz="3200" spc="48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JavaScript (ES6+)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5044" y="4861549"/>
            <a:ext cx="3340656" cy="2277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b="1" spc="52">
                <a:solidFill>
                  <a:srgbClr val="0E182F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⚙️ Backend</a:t>
            </a:r>
          </a:p>
          <a:p>
            <a:pPr algn="ctr">
              <a:lnSpc>
                <a:spcPts val="4480"/>
              </a:lnSpc>
            </a:pPr>
            <a:r>
              <a:rPr lang="en-US" sz="3200" spc="48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PHP / Node.js</a:t>
            </a:r>
          </a:p>
          <a:p>
            <a:pPr algn="ctr">
              <a:lnSpc>
                <a:spcPts val="4480"/>
              </a:lnSpc>
            </a:pPr>
            <a:r>
              <a:rPr lang="en-US" sz="3200" spc="48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Express Framework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713983" y="4875519"/>
            <a:ext cx="3340656" cy="1153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spc="52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🗄️ </a:t>
            </a:r>
            <a:r>
              <a:rPr lang="en-US" sz="3499" b="1" spc="52">
                <a:solidFill>
                  <a:srgbClr val="0E182F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Database</a:t>
            </a:r>
          </a:p>
          <a:p>
            <a:pPr algn="ctr">
              <a:lnSpc>
                <a:spcPts val="4480"/>
              </a:lnSpc>
            </a:pPr>
            <a:r>
              <a:rPr lang="en-US" sz="3200" spc="48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MongoDB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6042" y="6235065"/>
            <a:ext cx="3778597" cy="11283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🔄 Version Control</a:t>
            </a:r>
          </a:p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Git &amp; GitHub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191950" y="2469812"/>
            <a:ext cx="590410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  <p:grpSp>
        <p:nvGrpSpPr>
          <p:cNvPr id="3" name="Group 3"/>
          <p:cNvGrpSpPr/>
          <p:nvPr/>
        </p:nvGrpSpPr>
        <p:grpSpPr>
          <a:xfrm rot="-3503507">
            <a:off x="15971842" y="1684952"/>
            <a:ext cx="12583451" cy="7382737"/>
            <a:chOff x="0" y="0"/>
            <a:chExt cx="3314160" cy="194442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14160" cy="1944425"/>
            </a:xfrm>
            <a:custGeom>
              <a:avLst/>
              <a:gdLst/>
              <a:ahLst/>
              <a:cxnLst/>
              <a:rect l="l" t="t" r="r" b="b"/>
              <a:pathLst>
                <a:path w="3314160" h="1944425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913047"/>
                  </a:lnTo>
                  <a:cubicBezTo>
                    <a:pt x="3314160" y="1930376"/>
                    <a:pt x="3300112" y="1944425"/>
                    <a:pt x="3282783" y="1944425"/>
                  </a:cubicBezTo>
                  <a:lnTo>
                    <a:pt x="31378" y="1944425"/>
                  </a:lnTo>
                  <a:cubicBezTo>
                    <a:pt x="14048" y="1944425"/>
                    <a:pt x="0" y="1930376"/>
                    <a:pt x="0" y="1913047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33375"/>
              <a:ext cx="3314160" cy="22777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 rot="-3503507">
            <a:off x="-10878133" y="751583"/>
            <a:ext cx="12583451" cy="7382737"/>
            <a:chOff x="0" y="0"/>
            <a:chExt cx="3314160" cy="194442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14160" cy="1944425"/>
            </a:xfrm>
            <a:custGeom>
              <a:avLst/>
              <a:gdLst/>
              <a:ahLst/>
              <a:cxnLst/>
              <a:rect l="l" t="t" r="r" b="b"/>
              <a:pathLst>
                <a:path w="3314160" h="1944425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913047"/>
                  </a:lnTo>
                  <a:cubicBezTo>
                    <a:pt x="3314160" y="1930376"/>
                    <a:pt x="3300112" y="1944425"/>
                    <a:pt x="3282783" y="1944425"/>
                  </a:cubicBezTo>
                  <a:lnTo>
                    <a:pt x="31378" y="1944425"/>
                  </a:lnTo>
                  <a:cubicBezTo>
                    <a:pt x="14048" y="1944425"/>
                    <a:pt x="0" y="1930376"/>
                    <a:pt x="0" y="1913047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33375"/>
              <a:ext cx="3314160" cy="22777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719804" y="959150"/>
            <a:ext cx="12848391" cy="2792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20"/>
              </a:lnSpc>
            </a:pPr>
            <a:r>
              <a:rPr lang="en-US" sz="7800" b="1" spc="733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FEATURES OVERVIEW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284486" y="4128110"/>
            <a:ext cx="792734" cy="629681"/>
            <a:chOff x="0" y="0"/>
            <a:chExt cx="208786" cy="1658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8786" cy="165842"/>
            </a:xfrm>
            <a:custGeom>
              <a:avLst/>
              <a:gdLst/>
              <a:ahLst/>
              <a:cxnLst/>
              <a:rect l="l" t="t" r="r" b="b"/>
              <a:pathLst>
                <a:path w="208786" h="165842">
                  <a:moveTo>
                    <a:pt x="0" y="0"/>
                  </a:moveTo>
                  <a:lnTo>
                    <a:pt x="208786" y="0"/>
                  </a:lnTo>
                  <a:lnTo>
                    <a:pt x="208786" y="165842"/>
                  </a:lnTo>
                  <a:lnTo>
                    <a:pt x="0" y="165842"/>
                  </a:lnTo>
                  <a:close/>
                </a:path>
              </a:pathLst>
            </a:custGeom>
            <a:solidFill>
              <a:srgbClr val="8D2B2B">
                <a:alpha val="33725"/>
              </a:srgbClr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57150"/>
              <a:ext cx="208786" cy="1086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81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549586" y="4056752"/>
            <a:ext cx="262533" cy="701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3900">
                <a:solidFill>
                  <a:srgbClr val="8D0000"/>
                </a:solidFill>
                <a:latin typeface="Poppins"/>
                <a:ea typeface="Poppins"/>
                <a:cs typeface="Poppins"/>
                <a:sym typeface="Poppins"/>
              </a:rPr>
              <a:t>1.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438525" y="3818096"/>
            <a:ext cx="12061386" cy="2384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In-App Ordering System</a:t>
            </a:r>
          </a:p>
          <a:p>
            <a:pPr algn="just">
              <a:lnSpc>
                <a:spcPts val="3605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 </a:t>
            </a:r>
            <a:r>
              <a:rPr lang="en-US" sz="3500" spc="175">
                <a:solidFill>
                  <a:srgbClr val="0D1C38"/>
                </a:solidFill>
                <a:latin typeface="Assistant"/>
                <a:ea typeface="Assistant"/>
                <a:cs typeface="Assistant"/>
                <a:sym typeface="Assistant"/>
              </a:rPr>
              <a:t>A dedicated marketplace where Entrepreneurship students can display products and accept customer orders directly within the platform.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284486" y="6563898"/>
            <a:ext cx="792734" cy="629681"/>
            <a:chOff x="0" y="0"/>
            <a:chExt cx="208786" cy="16584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786" cy="165842"/>
            </a:xfrm>
            <a:custGeom>
              <a:avLst/>
              <a:gdLst/>
              <a:ahLst/>
              <a:cxnLst/>
              <a:rect l="l" t="t" r="r" b="b"/>
              <a:pathLst>
                <a:path w="208786" h="165842">
                  <a:moveTo>
                    <a:pt x="0" y="0"/>
                  </a:moveTo>
                  <a:lnTo>
                    <a:pt x="208786" y="0"/>
                  </a:lnTo>
                  <a:lnTo>
                    <a:pt x="208786" y="165842"/>
                  </a:lnTo>
                  <a:lnTo>
                    <a:pt x="0" y="165842"/>
                  </a:lnTo>
                  <a:close/>
                </a:path>
              </a:pathLst>
            </a:custGeom>
            <a:solidFill>
              <a:srgbClr val="8D2B2B">
                <a:alpha val="33725"/>
              </a:srgbClr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57150"/>
              <a:ext cx="208786" cy="1086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81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486409" y="6492540"/>
            <a:ext cx="388888" cy="701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3900">
                <a:solidFill>
                  <a:srgbClr val="8D0000"/>
                </a:solidFill>
                <a:latin typeface="Poppins"/>
                <a:ea typeface="Poppins"/>
                <a:cs typeface="Poppins"/>
                <a:sym typeface="Poppins"/>
              </a:rPr>
              <a:t>2.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506809" y="6297198"/>
            <a:ext cx="12061386" cy="2384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Product Management Feature</a:t>
            </a:r>
          </a:p>
          <a:p>
            <a:pPr algn="just">
              <a:lnSpc>
                <a:spcPts val="3605"/>
              </a:lnSpc>
            </a:pPr>
            <a:r>
              <a:rPr lang="en-US" sz="3500" spc="175">
                <a:solidFill>
                  <a:srgbClr val="0D1C38"/>
                </a:solidFill>
                <a:latin typeface="Assistant"/>
                <a:ea typeface="Assistant"/>
                <a:cs typeface="Assistant"/>
                <a:sym typeface="Assistant"/>
              </a:rPr>
              <a:t>   Allows student sellers to add, edit, organize, and update product information such as prices, descriptions, and product availability.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191950" y="2469812"/>
            <a:ext cx="590410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  <p:grpSp>
        <p:nvGrpSpPr>
          <p:cNvPr id="3" name="Group 3"/>
          <p:cNvGrpSpPr/>
          <p:nvPr/>
        </p:nvGrpSpPr>
        <p:grpSpPr>
          <a:xfrm rot="-3503507">
            <a:off x="15971842" y="1684952"/>
            <a:ext cx="12583451" cy="7382737"/>
            <a:chOff x="0" y="0"/>
            <a:chExt cx="3314160" cy="194442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14160" cy="1944425"/>
            </a:xfrm>
            <a:custGeom>
              <a:avLst/>
              <a:gdLst/>
              <a:ahLst/>
              <a:cxnLst/>
              <a:rect l="l" t="t" r="r" b="b"/>
              <a:pathLst>
                <a:path w="3314160" h="1944425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913047"/>
                  </a:lnTo>
                  <a:cubicBezTo>
                    <a:pt x="3314160" y="1930376"/>
                    <a:pt x="3300112" y="1944425"/>
                    <a:pt x="3282783" y="1944425"/>
                  </a:cubicBezTo>
                  <a:lnTo>
                    <a:pt x="31378" y="1944425"/>
                  </a:lnTo>
                  <a:cubicBezTo>
                    <a:pt x="14048" y="1944425"/>
                    <a:pt x="0" y="1930376"/>
                    <a:pt x="0" y="1913047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33375"/>
              <a:ext cx="3314160" cy="22777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 rot="-3503507">
            <a:off x="-10878133" y="751583"/>
            <a:ext cx="12583451" cy="7382737"/>
            <a:chOff x="0" y="0"/>
            <a:chExt cx="3314160" cy="194442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14160" cy="1944425"/>
            </a:xfrm>
            <a:custGeom>
              <a:avLst/>
              <a:gdLst/>
              <a:ahLst/>
              <a:cxnLst/>
              <a:rect l="l" t="t" r="r" b="b"/>
              <a:pathLst>
                <a:path w="3314160" h="1944425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913047"/>
                  </a:lnTo>
                  <a:cubicBezTo>
                    <a:pt x="3314160" y="1930376"/>
                    <a:pt x="3300112" y="1944425"/>
                    <a:pt x="3282783" y="1944425"/>
                  </a:cubicBezTo>
                  <a:lnTo>
                    <a:pt x="31378" y="1944425"/>
                  </a:lnTo>
                  <a:cubicBezTo>
                    <a:pt x="14048" y="1944425"/>
                    <a:pt x="0" y="1930376"/>
                    <a:pt x="0" y="1913047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33375"/>
              <a:ext cx="3314160" cy="22777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719804" y="959150"/>
            <a:ext cx="12848391" cy="2792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20"/>
              </a:lnSpc>
            </a:pPr>
            <a:r>
              <a:rPr lang="en-US" sz="7800" b="1" spc="733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FEATURES OVERVIEW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284486" y="4128110"/>
            <a:ext cx="792734" cy="629681"/>
            <a:chOff x="0" y="0"/>
            <a:chExt cx="208786" cy="1658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8786" cy="165842"/>
            </a:xfrm>
            <a:custGeom>
              <a:avLst/>
              <a:gdLst/>
              <a:ahLst/>
              <a:cxnLst/>
              <a:rect l="l" t="t" r="r" b="b"/>
              <a:pathLst>
                <a:path w="208786" h="165842">
                  <a:moveTo>
                    <a:pt x="0" y="0"/>
                  </a:moveTo>
                  <a:lnTo>
                    <a:pt x="208786" y="0"/>
                  </a:lnTo>
                  <a:lnTo>
                    <a:pt x="208786" y="165842"/>
                  </a:lnTo>
                  <a:lnTo>
                    <a:pt x="0" y="165842"/>
                  </a:lnTo>
                  <a:close/>
                </a:path>
              </a:pathLst>
            </a:custGeom>
            <a:solidFill>
              <a:srgbClr val="8D2B2B">
                <a:alpha val="33725"/>
              </a:srgbClr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57150"/>
              <a:ext cx="208786" cy="1086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81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82911" y="4056752"/>
            <a:ext cx="395883" cy="701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3900">
                <a:solidFill>
                  <a:srgbClr val="8D0000"/>
                </a:solidFill>
                <a:latin typeface="Poppins"/>
                <a:ea typeface="Poppins"/>
                <a:cs typeface="Poppins"/>
                <a:sym typeface="Poppins"/>
              </a:rPr>
              <a:t>3.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438525" y="3818096"/>
            <a:ext cx="12061386" cy="2384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Business Profile and Storefront</a:t>
            </a:r>
          </a:p>
          <a:p>
            <a:pPr algn="just">
              <a:lnSpc>
                <a:spcPts val="3605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 </a:t>
            </a:r>
            <a:r>
              <a:rPr lang="en-US" sz="3500" spc="175">
                <a:solidFill>
                  <a:srgbClr val="0D1C38"/>
                </a:solidFill>
                <a:latin typeface="Assistant"/>
                <a:ea typeface="Assistant"/>
                <a:cs typeface="Assistant"/>
                <a:sym typeface="Assistant"/>
              </a:rPr>
              <a:t>Enables Entrepreneurship students to create personalized digital storefronts where they can showcase their business information, products, and brand identity.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3503507">
            <a:off x="-7720970" y="1056579"/>
            <a:ext cx="12583451" cy="7382737"/>
            <a:chOff x="0" y="0"/>
            <a:chExt cx="3314160" cy="194442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14160" cy="1944425"/>
            </a:xfrm>
            <a:custGeom>
              <a:avLst/>
              <a:gdLst/>
              <a:ahLst/>
              <a:cxnLst/>
              <a:rect l="l" t="t" r="r" b="b"/>
              <a:pathLst>
                <a:path w="3314160" h="1944425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913047"/>
                  </a:lnTo>
                  <a:cubicBezTo>
                    <a:pt x="3314160" y="1930376"/>
                    <a:pt x="3300112" y="1944425"/>
                    <a:pt x="3282783" y="1944425"/>
                  </a:cubicBezTo>
                  <a:lnTo>
                    <a:pt x="31378" y="1944425"/>
                  </a:lnTo>
                  <a:cubicBezTo>
                    <a:pt x="14048" y="1944425"/>
                    <a:pt x="0" y="1930376"/>
                    <a:pt x="0" y="1913047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33375"/>
              <a:ext cx="3314160" cy="22777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2618758" y="3608816"/>
            <a:ext cx="8918179" cy="190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  <p:grpSp>
        <p:nvGrpSpPr>
          <p:cNvPr id="6" name="Group 6"/>
          <p:cNvGrpSpPr/>
          <p:nvPr/>
        </p:nvGrpSpPr>
        <p:grpSpPr>
          <a:xfrm>
            <a:off x="692932" y="4065066"/>
            <a:ext cx="4915050" cy="5138768"/>
            <a:chOff x="0" y="0"/>
            <a:chExt cx="1421191" cy="148587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21191" cy="1485879"/>
            </a:xfrm>
            <a:custGeom>
              <a:avLst/>
              <a:gdLst/>
              <a:ahLst/>
              <a:cxnLst/>
              <a:rect l="l" t="t" r="r" b="b"/>
              <a:pathLst>
                <a:path w="1421191" h="1485879">
                  <a:moveTo>
                    <a:pt x="0" y="0"/>
                  </a:moveTo>
                  <a:lnTo>
                    <a:pt x="1421191" y="0"/>
                  </a:lnTo>
                  <a:lnTo>
                    <a:pt x="1421191" y="1485879"/>
                  </a:lnTo>
                  <a:lnTo>
                    <a:pt x="0" y="1485879"/>
                  </a:lnTo>
                  <a:close/>
                </a:path>
              </a:pathLst>
            </a:custGeom>
            <a:solidFill>
              <a:srgbClr val="C27F7F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33375"/>
              <a:ext cx="1421191" cy="18192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753856" y="9614819"/>
            <a:ext cx="5565113" cy="672181"/>
            <a:chOff x="0" y="0"/>
            <a:chExt cx="1465709" cy="1770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65709" cy="177035"/>
            </a:xfrm>
            <a:custGeom>
              <a:avLst/>
              <a:gdLst/>
              <a:ahLst/>
              <a:cxnLst/>
              <a:rect l="l" t="t" r="r" b="b"/>
              <a:pathLst>
                <a:path w="1465709" h="177035">
                  <a:moveTo>
                    <a:pt x="70949" y="0"/>
                  </a:moveTo>
                  <a:lnTo>
                    <a:pt x="1394760" y="0"/>
                  </a:lnTo>
                  <a:cubicBezTo>
                    <a:pt x="1433944" y="0"/>
                    <a:pt x="1465709" y="31765"/>
                    <a:pt x="1465709" y="70949"/>
                  </a:cubicBezTo>
                  <a:lnTo>
                    <a:pt x="1465709" y="106086"/>
                  </a:lnTo>
                  <a:cubicBezTo>
                    <a:pt x="1465709" y="145270"/>
                    <a:pt x="1433944" y="177035"/>
                    <a:pt x="1394760" y="177035"/>
                  </a:cubicBezTo>
                  <a:lnTo>
                    <a:pt x="70949" y="177035"/>
                  </a:lnTo>
                  <a:cubicBezTo>
                    <a:pt x="31765" y="177035"/>
                    <a:pt x="0" y="145270"/>
                    <a:pt x="0" y="106086"/>
                  </a:cubicBezTo>
                  <a:lnTo>
                    <a:pt x="0" y="70949"/>
                  </a:lnTo>
                  <a:cubicBezTo>
                    <a:pt x="0" y="31765"/>
                    <a:pt x="31765" y="0"/>
                    <a:pt x="70949" y="0"/>
                  </a:cubicBez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33375"/>
              <a:ext cx="1465709" cy="5104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476744" y="0"/>
            <a:ext cx="5565113" cy="672181"/>
            <a:chOff x="0" y="0"/>
            <a:chExt cx="1465709" cy="17703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65709" cy="177035"/>
            </a:xfrm>
            <a:custGeom>
              <a:avLst/>
              <a:gdLst/>
              <a:ahLst/>
              <a:cxnLst/>
              <a:rect l="l" t="t" r="r" b="b"/>
              <a:pathLst>
                <a:path w="1465709" h="177035">
                  <a:moveTo>
                    <a:pt x="70949" y="0"/>
                  </a:moveTo>
                  <a:lnTo>
                    <a:pt x="1394760" y="0"/>
                  </a:lnTo>
                  <a:cubicBezTo>
                    <a:pt x="1433944" y="0"/>
                    <a:pt x="1465709" y="31765"/>
                    <a:pt x="1465709" y="70949"/>
                  </a:cubicBezTo>
                  <a:lnTo>
                    <a:pt x="1465709" y="106086"/>
                  </a:lnTo>
                  <a:cubicBezTo>
                    <a:pt x="1465709" y="145270"/>
                    <a:pt x="1433944" y="177035"/>
                    <a:pt x="1394760" y="177035"/>
                  </a:cubicBezTo>
                  <a:lnTo>
                    <a:pt x="70949" y="177035"/>
                  </a:lnTo>
                  <a:cubicBezTo>
                    <a:pt x="31765" y="177035"/>
                    <a:pt x="0" y="145270"/>
                    <a:pt x="0" y="106086"/>
                  </a:cubicBezTo>
                  <a:lnTo>
                    <a:pt x="0" y="70949"/>
                  </a:lnTo>
                  <a:cubicBezTo>
                    <a:pt x="0" y="31765"/>
                    <a:pt x="31765" y="0"/>
                    <a:pt x="70949" y="0"/>
                  </a:cubicBez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33375"/>
              <a:ext cx="1465709" cy="5104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840332" y="1085850"/>
            <a:ext cx="4681580" cy="1109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00"/>
              </a:lnSpc>
            </a:pPr>
            <a:r>
              <a:rPr lang="en-US" sz="77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TARGET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40332" y="1733605"/>
            <a:ext cx="4996390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599"/>
              </a:lnSpc>
            </a:pPr>
            <a:r>
              <a:rPr lang="en-US" sz="9000" b="1" spc="845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USERS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4116849"/>
            <a:ext cx="4243514" cy="5086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b="1" spc="52">
                <a:solidFill>
                  <a:srgbClr val="0E182F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🎓 Students</a:t>
            </a:r>
          </a:p>
          <a:p>
            <a:pPr algn="ctr">
              <a:lnSpc>
                <a:spcPts val="4480"/>
              </a:lnSpc>
            </a:pPr>
            <a:r>
              <a:rPr lang="en-US" sz="3200" spc="48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Primary users of the platform who can browse products, place orders, and support Entrepreneurship student businesses through the online marketplace.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500953" y="4065066"/>
            <a:ext cx="4915050" cy="5138768"/>
            <a:chOff x="0" y="0"/>
            <a:chExt cx="1421191" cy="148587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21191" cy="1485879"/>
            </a:xfrm>
            <a:custGeom>
              <a:avLst/>
              <a:gdLst/>
              <a:ahLst/>
              <a:cxnLst/>
              <a:rect l="l" t="t" r="r" b="b"/>
              <a:pathLst>
                <a:path w="1421191" h="1485879">
                  <a:moveTo>
                    <a:pt x="0" y="0"/>
                  </a:moveTo>
                  <a:lnTo>
                    <a:pt x="1421191" y="0"/>
                  </a:lnTo>
                  <a:lnTo>
                    <a:pt x="1421191" y="1485879"/>
                  </a:lnTo>
                  <a:lnTo>
                    <a:pt x="0" y="1485879"/>
                  </a:lnTo>
                  <a:close/>
                </a:path>
              </a:pathLst>
            </a:custGeom>
            <a:solidFill>
              <a:srgbClr val="C27F7F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33375"/>
              <a:ext cx="1421191" cy="18192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344250" y="4065066"/>
            <a:ext cx="4915050" cy="5138768"/>
            <a:chOff x="0" y="0"/>
            <a:chExt cx="1421191" cy="14858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21191" cy="1485879"/>
            </a:xfrm>
            <a:custGeom>
              <a:avLst/>
              <a:gdLst/>
              <a:ahLst/>
              <a:cxnLst/>
              <a:rect l="l" t="t" r="r" b="b"/>
              <a:pathLst>
                <a:path w="1421191" h="1485879">
                  <a:moveTo>
                    <a:pt x="0" y="0"/>
                  </a:moveTo>
                  <a:lnTo>
                    <a:pt x="1421191" y="0"/>
                  </a:lnTo>
                  <a:lnTo>
                    <a:pt x="1421191" y="1485879"/>
                  </a:lnTo>
                  <a:lnTo>
                    <a:pt x="0" y="1485879"/>
                  </a:lnTo>
                  <a:close/>
                </a:path>
              </a:pathLst>
            </a:custGeom>
            <a:solidFill>
              <a:srgbClr val="C27F7F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33375"/>
              <a:ext cx="1421191" cy="18192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476744" y="1028700"/>
            <a:ext cx="5565113" cy="672181"/>
            <a:chOff x="0" y="0"/>
            <a:chExt cx="1465709" cy="1770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465709" cy="177035"/>
            </a:xfrm>
            <a:custGeom>
              <a:avLst/>
              <a:gdLst/>
              <a:ahLst/>
              <a:cxnLst/>
              <a:rect l="l" t="t" r="r" b="b"/>
              <a:pathLst>
                <a:path w="1465709" h="177035">
                  <a:moveTo>
                    <a:pt x="70949" y="0"/>
                  </a:moveTo>
                  <a:lnTo>
                    <a:pt x="1394760" y="0"/>
                  </a:lnTo>
                  <a:cubicBezTo>
                    <a:pt x="1433944" y="0"/>
                    <a:pt x="1465709" y="31765"/>
                    <a:pt x="1465709" y="70949"/>
                  </a:cubicBezTo>
                  <a:lnTo>
                    <a:pt x="1465709" y="106086"/>
                  </a:lnTo>
                  <a:cubicBezTo>
                    <a:pt x="1465709" y="145270"/>
                    <a:pt x="1433944" y="177035"/>
                    <a:pt x="1394760" y="177035"/>
                  </a:cubicBezTo>
                  <a:lnTo>
                    <a:pt x="70949" y="177035"/>
                  </a:lnTo>
                  <a:cubicBezTo>
                    <a:pt x="31765" y="177035"/>
                    <a:pt x="0" y="145270"/>
                    <a:pt x="0" y="106086"/>
                  </a:cubicBezTo>
                  <a:lnTo>
                    <a:pt x="0" y="70949"/>
                  </a:lnTo>
                  <a:cubicBezTo>
                    <a:pt x="0" y="31765"/>
                    <a:pt x="31765" y="0"/>
                    <a:pt x="70949" y="0"/>
                  </a:cubicBez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33375"/>
              <a:ext cx="1465709" cy="5104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476744" y="2057400"/>
            <a:ext cx="5565113" cy="672181"/>
            <a:chOff x="0" y="0"/>
            <a:chExt cx="1465709" cy="177035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465709" cy="177035"/>
            </a:xfrm>
            <a:custGeom>
              <a:avLst/>
              <a:gdLst/>
              <a:ahLst/>
              <a:cxnLst/>
              <a:rect l="l" t="t" r="r" b="b"/>
              <a:pathLst>
                <a:path w="1465709" h="177035">
                  <a:moveTo>
                    <a:pt x="70949" y="0"/>
                  </a:moveTo>
                  <a:lnTo>
                    <a:pt x="1394760" y="0"/>
                  </a:lnTo>
                  <a:cubicBezTo>
                    <a:pt x="1433944" y="0"/>
                    <a:pt x="1465709" y="31765"/>
                    <a:pt x="1465709" y="70949"/>
                  </a:cubicBezTo>
                  <a:lnTo>
                    <a:pt x="1465709" y="106086"/>
                  </a:lnTo>
                  <a:cubicBezTo>
                    <a:pt x="1465709" y="145270"/>
                    <a:pt x="1433944" y="177035"/>
                    <a:pt x="1394760" y="177035"/>
                  </a:cubicBezTo>
                  <a:lnTo>
                    <a:pt x="70949" y="177035"/>
                  </a:lnTo>
                  <a:cubicBezTo>
                    <a:pt x="31765" y="177035"/>
                    <a:pt x="0" y="145270"/>
                    <a:pt x="0" y="106086"/>
                  </a:cubicBezTo>
                  <a:lnTo>
                    <a:pt x="0" y="70949"/>
                  </a:lnTo>
                  <a:cubicBezTo>
                    <a:pt x="0" y="31765"/>
                    <a:pt x="31765" y="0"/>
                    <a:pt x="70949" y="0"/>
                  </a:cubicBez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33375"/>
              <a:ext cx="1465709" cy="5104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6836721" y="4283898"/>
            <a:ext cx="4243514" cy="4525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b="1" spc="52" dirty="0">
                <a:solidFill>
                  <a:srgbClr val="0E182F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👥 Visitors</a:t>
            </a:r>
          </a:p>
          <a:p>
            <a:pPr algn="ctr">
              <a:lnSpc>
                <a:spcPts val="4480"/>
              </a:lnSpc>
            </a:pPr>
            <a:r>
              <a:rPr lang="en-US" sz="3200" spc="48" dirty="0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Students who manage online shops, upload products, accept customer orders, and promote their businesses within the platform.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680018" y="4062382"/>
            <a:ext cx="4243514" cy="5086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b="1" spc="52">
                <a:solidFill>
                  <a:srgbClr val="0E182F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👩‍🏫 Teachers</a:t>
            </a:r>
          </a:p>
          <a:p>
            <a:pPr algn="ctr">
              <a:lnSpc>
                <a:spcPts val="4480"/>
              </a:lnSpc>
            </a:pPr>
            <a:r>
              <a:rPr lang="en-US" sz="3200" spc="48">
                <a:solidFill>
                  <a:srgbClr val="0E182F"/>
                </a:solidFill>
                <a:latin typeface="Assistant"/>
                <a:ea typeface="Assistant"/>
                <a:cs typeface="Assistant"/>
                <a:sym typeface="Assistant"/>
              </a:rPr>
              <a:t>Users who can access and purchase products from student-run businesses while supporting entrepreneurial activities inside the university community.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3503507">
            <a:off x="8249399" y="1316288"/>
            <a:ext cx="12583451" cy="6795882"/>
            <a:chOff x="0" y="0"/>
            <a:chExt cx="3314160" cy="178986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14160" cy="1789862"/>
            </a:xfrm>
            <a:custGeom>
              <a:avLst/>
              <a:gdLst/>
              <a:ahLst/>
              <a:cxnLst/>
              <a:rect l="l" t="t" r="r" b="b"/>
              <a:pathLst>
                <a:path w="3314160" h="1789862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758484"/>
                  </a:lnTo>
                  <a:cubicBezTo>
                    <a:pt x="3314160" y="1775814"/>
                    <a:pt x="3300112" y="1789862"/>
                    <a:pt x="3282783" y="1789862"/>
                  </a:cubicBezTo>
                  <a:lnTo>
                    <a:pt x="31378" y="1789862"/>
                  </a:lnTo>
                  <a:cubicBezTo>
                    <a:pt x="14048" y="1789862"/>
                    <a:pt x="0" y="1775814"/>
                    <a:pt x="0" y="1758484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33375"/>
              <a:ext cx="3314160" cy="21232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2185362" y="3210262"/>
            <a:ext cx="8918179" cy="190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Box 6"/>
          <p:cNvSpPr txBox="1"/>
          <p:nvPr/>
        </p:nvSpPr>
        <p:spPr>
          <a:xfrm>
            <a:off x="1115297" y="1143000"/>
            <a:ext cx="4338890" cy="7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0"/>
              </a:lnSpc>
            </a:pPr>
            <a:r>
              <a:rPr lang="en-US" sz="59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PROJECT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15297" y="2007880"/>
            <a:ext cx="7827268" cy="101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sz="7100" b="1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284486" y="4128110"/>
            <a:ext cx="792734" cy="629681"/>
            <a:chOff x="0" y="0"/>
            <a:chExt cx="208786" cy="16584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8786" cy="165842"/>
            </a:xfrm>
            <a:custGeom>
              <a:avLst/>
              <a:gdLst/>
              <a:ahLst/>
              <a:cxnLst/>
              <a:rect l="l" t="t" r="r" b="b"/>
              <a:pathLst>
                <a:path w="208786" h="165842">
                  <a:moveTo>
                    <a:pt x="0" y="0"/>
                  </a:moveTo>
                  <a:lnTo>
                    <a:pt x="208786" y="0"/>
                  </a:lnTo>
                  <a:lnTo>
                    <a:pt x="208786" y="165842"/>
                  </a:lnTo>
                  <a:lnTo>
                    <a:pt x="0" y="165842"/>
                  </a:lnTo>
                  <a:close/>
                </a:path>
              </a:pathLst>
            </a:custGeom>
            <a:solidFill>
              <a:srgbClr val="8D2B2B">
                <a:alpha val="33725"/>
              </a:srgbClr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57150"/>
              <a:ext cx="208786" cy="1086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81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549586" y="4056752"/>
            <a:ext cx="262533" cy="701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3900">
                <a:solidFill>
                  <a:srgbClr val="8D0000"/>
                </a:solidFill>
                <a:latin typeface="Poppins"/>
                <a:ea typeface="Poppins"/>
                <a:cs typeface="Poppins"/>
                <a:sym typeface="Poppins"/>
              </a:rPr>
              <a:t>1.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438525" y="3818096"/>
            <a:ext cx="12061386" cy="2384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Support Student Entrepreneurs</a:t>
            </a:r>
          </a:p>
          <a:p>
            <a:pPr algn="just">
              <a:lnSpc>
                <a:spcPts val="3605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 </a:t>
            </a:r>
            <a:r>
              <a:rPr lang="en-US" sz="3500" spc="175">
                <a:solidFill>
                  <a:srgbClr val="0D1C38"/>
                </a:solidFill>
                <a:latin typeface="Assistant"/>
                <a:ea typeface="Assistant"/>
                <a:cs typeface="Assistant"/>
                <a:sym typeface="Assistant"/>
              </a:rPr>
              <a:t>Provide Entrepreneurship students with a digital platform to promote and grow their businesses within the university community.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2284486" y="7005692"/>
            <a:ext cx="792734" cy="629681"/>
            <a:chOff x="0" y="0"/>
            <a:chExt cx="208786" cy="1658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08786" cy="165842"/>
            </a:xfrm>
            <a:custGeom>
              <a:avLst/>
              <a:gdLst/>
              <a:ahLst/>
              <a:cxnLst/>
              <a:rect l="l" t="t" r="r" b="b"/>
              <a:pathLst>
                <a:path w="208786" h="165842">
                  <a:moveTo>
                    <a:pt x="0" y="0"/>
                  </a:moveTo>
                  <a:lnTo>
                    <a:pt x="208786" y="0"/>
                  </a:lnTo>
                  <a:lnTo>
                    <a:pt x="208786" y="165842"/>
                  </a:lnTo>
                  <a:lnTo>
                    <a:pt x="0" y="165842"/>
                  </a:lnTo>
                  <a:close/>
                </a:path>
              </a:pathLst>
            </a:custGeom>
            <a:solidFill>
              <a:srgbClr val="8D2B2B">
                <a:alpha val="33725"/>
              </a:srgbClr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57150"/>
              <a:ext cx="208786" cy="1086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81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486409" y="6891392"/>
            <a:ext cx="388888" cy="701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3900">
                <a:solidFill>
                  <a:srgbClr val="8D0000"/>
                </a:solidFill>
                <a:latin typeface="Poppins"/>
                <a:ea typeface="Poppins"/>
                <a:cs typeface="Poppins"/>
                <a:sym typeface="Poppins"/>
              </a:rPr>
              <a:t>2.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38525" y="6738992"/>
            <a:ext cx="12061386" cy="2384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Simplify Online Buying and Selling</a:t>
            </a:r>
          </a:p>
          <a:p>
            <a:pPr algn="just">
              <a:lnSpc>
                <a:spcPts val="3605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 </a:t>
            </a:r>
            <a:r>
              <a:rPr lang="en-US" sz="3500" spc="175">
                <a:solidFill>
                  <a:srgbClr val="0D1C38"/>
                </a:solidFill>
                <a:latin typeface="Assistant"/>
                <a:ea typeface="Assistant"/>
                <a:cs typeface="Assistant"/>
                <a:sym typeface="Assistant"/>
              </a:rPr>
              <a:t>Create a convenient and accessible marketplace where students can easily browse products and place orders online.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3503507">
            <a:off x="8249399" y="1316288"/>
            <a:ext cx="12583451" cy="6795882"/>
            <a:chOff x="0" y="0"/>
            <a:chExt cx="3314160" cy="178986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14160" cy="1789862"/>
            </a:xfrm>
            <a:custGeom>
              <a:avLst/>
              <a:gdLst/>
              <a:ahLst/>
              <a:cxnLst/>
              <a:rect l="l" t="t" r="r" b="b"/>
              <a:pathLst>
                <a:path w="3314160" h="1789862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758484"/>
                  </a:lnTo>
                  <a:cubicBezTo>
                    <a:pt x="3314160" y="1775814"/>
                    <a:pt x="3300112" y="1789862"/>
                    <a:pt x="3282783" y="1789862"/>
                  </a:cubicBezTo>
                  <a:lnTo>
                    <a:pt x="31378" y="1789862"/>
                  </a:lnTo>
                  <a:cubicBezTo>
                    <a:pt x="14048" y="1789862"/>
                    <a:pt x="0" y="1775814"/>
                    <a:pt x="0" y="1758484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33375"/>
              <a:ext cx="3314160" cy="21232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-2185362" y="3210262"/>
            <a:ext cx="8918179" cy="190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Box 6"/>
          <p:cNvSpPr txBox="1"/>
          <p:nvPr/>
        </p:nvSpPr>
        <p:spPr>
          <a:xfrm>
            <a:off x="1115297" y="1143000"/>
            <a:ext cx="4338890" cy="7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0"/>
              </a:lnSpc>
            </a:pPr>
            <a:r>
              <a:rPr lang="en-US" sz="59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PROJECT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15297" y="2007880"/>
            <a:ext cx="7827268" cy="101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sz="7100" b="1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284486" y="4128110"/>
            <a:ext cx="792734" cy="629681"/>
            <a:chOff x="0" y="0"/>
            <a:chExt cx="208786" cy="16584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8786" cy="165842"/>
            </a:xfrm>
            <a:custGeom>
              <a:avLst/>
              <a:gdLst/>
              <a:ahLst/>
              <a:cxnLst/>
              <a:rect l="l" t="t" r="r" b="b"/>
              <a:pathLst>
                <a:path w="208786" h="165842">
                  <a:moveTo>
                    <a:pt x="0" y="0"/>
                  </a:moveTo>
                  <a:lnTo>
                    <a:pt x="208786" y="0"/>
                  </a:lnTo>
                  <a:lnTo>
                    <a:pt x="208786" y="165842"/>
                  </a:lnTo>
                  <a:lnTo>
                    <a:pt x="0" y="165842"/>
                  </a:lnTo>
                  <a:close/>
                </a:path>
              </a:pathLst>
            </a:custGeom>
            <a:solidFill>
              <a:srgbClr val="8D2B2B">
                <a:alpha val="33725"/>
              </a:srgbClr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57150"/>
              <a:ext cx="208786" cy="1086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81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482911" y="4056752"/>
            <a:ext cx="395883" cy="701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3900">
                <a:solidFill>
                  <a:srgbClr val="8D0000"/>
                </a:solidFill>
                <a:latin typeface="Poppins"/>
                <a:ea typeface="Poppins"/>
                <a:cs typeface="Poppins"/>
                <a:sym typeface="Poppins"/>
              </a:rPr>
              <a:t>3.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438525" y="3818096"/>
            <a:ext cx="12061386" cy="1926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Enhance Product Visibility</a:t>
            </a:r>
          </a:p>
          <a:p>
            <a:pPr algn="just">
              <a:lnSpc>
                <a:spcPts val="3605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 </a:t>
            </a:r>
            <a:r>
              <a:rPr lang="en-US" sz="3500" spc="175">
                <a:solidFill>
                  <a:srgbClr val="0D1C38"/>
                </a:solidFill>
                <a:latin typeface="Assistant"/>
                <a:ea typeface="Assistant"/>
                <a:cs typeface="Assistant"/>
                <a:sym typeface="Assistant"/>
              </a:rPr>
              <a:t>Help student sellers showcase their products to reach more potential customers inside the campus.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2284486" y="6669380"/>
            <a:ext cx="792734" cy="629681"/>
            <a:chOff x="0" y="0"/>
            <a:chExt cx="208786" cy="1658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08786" cy="165842"/>
            </a:xfrm>
            <a:custGeom>
              <a:avLst/>
              <a:gdLst/>
              <a:ahLst/>
              <a:cxnLst/>
              <a:rect l="l" t="t" r="r" b="b"/>
              <a:pathLst>
                <a:path w="208786" h="165842">
                  <a:moveTo>
                    <a:pt x="0" y="0"/>
                  </a:moveTo>
                  <a:lnTo>
                    <a:pt x="208786" y="0"/>
                  </a:lnTo>
                  <a:lnTo>
                    <a:pt x="208786" y="165842"/>
                  </a:lnTo>
                  <a:lnTo>
                    <a:pt x="0" y="165842"/>
                  </a:lnTo>
                  <a:close/>
                </a:path>
              </a:pathLst>
            </a:custGeom>
            <a:solidFill>
              <a:srgbClr val="8D2B2B">
                <a:alpha val="33725"/>
              </a:srgbClr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57150"/>
              <a:ext cx="208786" cy="1086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81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476512" y="6598022"/>
            <a:ext cx="415677" cy="701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3900">
                <a:solidFill>
                  <a:srgbClr val="8D0000"/>
                </a:solidFill>
                <a:latin typeface="Poppins"/>
                <a:ea typeface="Poppins"/>
                <a:cs typeface="Poppins"/>
                <a:sym typeface="Poppins"/>
              </a:rPr>
              <a:t>4.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38525" y="6402680"/>
            <a:ext cx="12061386" cy="2384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Promote Digital Entrepreneurship</a:t>
            </a:r>
          </a:p>
          <a:p>
            <a:pPr algn="just">
              <a:lnSpc>
                <a:spcPts val="3605"/>
              </a:lnSpc>
            </a:pPr>
            <a:r>
              <a:rPr lang="en-US" sz="3500" b="1" spc="175">
                <a:solidFill>
                  <a:srgbClr val="0D1C38"/>
                </a:solidFill>
                <a:latin typeface="Assistant Bold"/>
                <a:ea typeface="Assistant Bold"/>
                <a:cs typeface="Assistant Bold"/>
                <a:sym typeface="Assistant Bold"/>
              </a:rPr>
              <a:t> </a:t>
            </a:r>
            <a:r>
              <a:rPr lang="en-US" sz="3500" spc="175">
                <a:solidFill>
                  <a:srgbClr val="0D1C38"/>
                </a:solidFill>
                <a:latin typeface="Assistant"/>
                <a:ea typeface="Assistant"/>
                <a:cs typeface="Assistant"/>
                <a:sym typeface="Assistant"/>
              </a:rPr>
              <a:t>Encourage the use of technology and e-commerce practices among Entrepreneurship students for modern business development.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957323" y="4153503"/>
            <a:ext cx="8373354" cy="10553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00"/>
              </a:lnSpc>
            </a:pPr>
            <a:r>
              <a:rPr lang="en-US" sz="7800">
                <a:solidFill>
                  <a:srgbClr val="8D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THANK YOU</a:t>
            </a:r>
          </a:p>
        </p:txBody>
      </p:sp>
      <p:grpSp>
        <p:nvGrpSpPr>
          <p:cNvPr id="3" name="Group 3"/>
          <p:cNvGrpSpPr/>
          <p:nvPr/>
        </p:nvGrpSpPr>
        <p:grpSpPr>
          <a:xfrm rot="-2789597">
            <a:off x="5812912" y="2247382"/>
            <a:ext cx="721847" cy="631617"/>
            <a:chOff x="0" y="0"/>
            <a:chExt cx="812800" cy="7112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D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27000" y="-3175"/>
              <a:ext cx="558800" cy="663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651364" y="2239670"/>
            <a:ext cx="5194747" cy="8686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799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Code&lt;breakers&gt;</a:t>
            </a:r>
          </a:p>
        </p:txBody>
      </p:sp>
      <p:grpSp>
        <p:nvGrpSpPr>
          <p:cNvPr id="7" name="Group 7"/>
          <p:cNvGrpSpPr/>
          <p:nvPr/>
        </p:nvGrpSpPr>
        <p:grpSpPr>
          <a:xfrm rot="-2789597">
            <a:off x="6054860" y="2498781"/>
            <a:ext cx="513548" cy="449354"/>
            <a:chOff x="0" y="0"/>
            <a:chExt cx="812800" cy="7112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C27F7F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7000" y="-3175"/>
              <a:ext cx="558800" cy="663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3503507">
            <a:off x="-2356457" y="6564794"/>
            <a:ext cx="5968439" cy="2484763"/>
            <a:chOff x="0" y="0"/>
            <a:chExt cx="1571935" cy="65442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71935" cy="654423"/>
            </a:xfrm>
            <a:custGeom>
              <a:avLst/>
              <a:gdLst/>
              <a:ahLst/>
              <a:cxnLst/>
              <a:rect l="l" t="t" r="r" b="b"/>
              <a:pathLst>
                <a:path w="1571935" h="654423">
                  <a:moveTo>
                    <a:pt x="66154" y="0"/>
                  </a:moveTo>
                  <a:lnTo>
                    <a:pt x="1505780" y="0"/>
                  </a:lnTo>
                  <a:cubicBezTo>
                    <a:pt x="1523326" y="0"/>
                    <a:pt x="1540152" y="6970"/>
                    <a:pt x="1552558" y="19376"/>
                  </a:cubicBezTo>
                  <a:cubicBezTo>
                    <a:pt x="1564965" y="31782"/>
                    <a:pt x="1571935" y="48609"/>
                    <a:pt x="1571935" y="66154"/>
                  </a:cubicBezTo>
                  <a:lnTo>
                    <a:pt x="1571935" y="588269"/>
                  </a:lnTo>
                  <a:cubicBezTo>
                    <a:pt x="1571935" y="624805"/>
                    <a:pt x="1542316" y="654423"/>
                    <a:pt x="1505780" y="654423"/>
                  </a:cubicBezTo>
                  <a:lnTo>
                    <a:pt x="66154" y="654423"/>
                  </a:lnTo>
                  <a:cubicBezTo>
                    <a:pt x="29618" y="654423"/>
                    <a:pt x="0" y="624805"/>
                    <a:pt x="0" y="588269"/>
                  </a:cubicBezTo>
                  <a:lnTo>
                    <a:pt x="0" y="66154"/>
                  </a:lnTo>
                  <a:cubicBezTo>
                    <a:pt x="0" y="29618"/>
                    <a:pt x="29618" y="0"/>
                    <a:pt x="66154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33375"/>
              <a:ext cx="1571935" cy="9877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-3503507">
            <a:off x="14958997" y="1874234"/>
            <a:ext cx="6145518" cy="2741564"/>
            <a:chOff x="0" y="0"/>
            <a:chExt cx="1618573" cy="72205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18573" cy="722058"/>
            </a:xfrm>
            <a:custGeom>
              <a:avLst/>
              <a:gdLst/>
              <a:ahLst/>
              <a:cxnLst/>
              <a:rect l="l" t="t" r="r" b="b"/>
              <a:pathLst>
                <a:path w="1618573" h="722058">
                  <a:moveTo>
                    <a:pt x="64248" y="0"/>
                  </a:moveTo>
                  <a:lnTo>
                    <a:pt x="1554325" y="0"/>
                  </a:lnTo>
                  <a:cubicBezTo>
                    <a:pt x="1571364" y="0"/>
                    <a:pt x="1587706" y="6769"/>
                    <a:pt x="1599755" y="18818"/>
                  </a:cubicBezTo>
                  <a:cubicBezTo>
                    <a:pt x="1611804" y="30867"/>
                    <a:pt x="1618573" y="47208"/>
                    <a:pt x="1618573" y="64248"/>
                  </a:cubicBezTo>
                  <a:lnTo>
                    <a:pt x="1618573" y="657810"/>
                  </a:lnTo>
                  <a:cubicBezTo>
                    <a:pt x="1618573" y="674850"/>
                    <a:pt x="1611804" y="691191"/>
                    <a:pt x="1599755" y="703240"/>
                  </a:cubicBezTo>
                  <a:cubicBezTo>
                    <a:pt x="1587706" y="715289"/>
                    <a:pt x="1571364" y="722058"/>
                    <a:pt x="1554325" y="722058"/>
                  </a:cubicBezTo>
                  <a:lnTo>
                    <a:pt x="64248" y="722058"/>
                  </a:lnTo>
                  <a:cubicBezTo>
                    <a:pt x="47208" y="722058"/>
                    <a:pt x="30867" y="715289"/>
                    <a:pt x="18818" y="703240"/>
                  </a:cubicBezTo>
                  <a:cubicBezTo>
                    <a:pt x="6769" y="691191"/>
                    <a:pt x="0" y="674850"/>
                    <a:pt x="0" y="657810"/>
                  </a:cubicBezTo>
                  <a:lnTo>
                    <a:pt x="0" y="64248"/>
                  </a:lnTo>
                  <a:cubicBezTo>
                    <a:pt x="0" y="47208"/>
                    <a:pt x="6769" y="30867"/>
                    <a:pt x="18818" y="18818"/>
                  </a:cubicBezTo>
                  <a:cubicBezTo>
                    <a:pt x="30867" y="6769"/>
                    <a:pt x="47208" y="0"/>
                    <a:pt x="64248" y="0"/>
                  </a:cubicBezTo>
                  <a:close/>
                </a:path>
              </a:pathLst>
            </a:custGeom>
            <a:solidFill>
              <a:srgbClr val="FFE9E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33375"/>
              <a:ext cx="1618573" cy="1055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24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3711245" y="5726300"/>
            <a:ext cx="11542625" cy="177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3500" spc="52">
                <a:solidFill>
                  <a:srgbClr val="0D1C38"/>
                </a:solidFill>
                <a:latin typeface="Assistant"/>
                <a:ea typeface="Assistant"/>
                <a:cs typeface="Assistant"/>
                <a:sym typeface="Assistant"/>
              </a:rPr>
              <a:t>Campus Service Hub is more than just a guide; it is a community-driven platform designed to empower students and support local entrepreneurs at Bicol University Polangui.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389</Words>
  <Application>Microsoft Office PowerPoint</Application>
  <PresentationFormat>Custom</PresentationFormat>
  <Paragraphs>59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Archivo Black</vt:lpstr>
      <vt:lpstr>Canva Sans Bold</vt:lpstr>
      <vt:lpstr>Assistant Bold</vt:lpstr>
      <vt:lpstr>Calibri</vt:lpstr>
      <vt:lpstr>Poppins Bold</vt:lpstr>
      <vt:lpstr>Poppins</vt:lpstr>
      <vt:lpstr>Poppins Bold Italics</vt:lpstr>
      <vt:lpstr>Arial</vt:lpstr>
      <vt:lpstr>Assistant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 &amp; White Geometric Bold Simple Company Profile Presentation</dc:title>
  <dc:creator>Joshua Olarcos</dc:creator>
  <cp:lastModifiedBy>Joshua Olarcos</cp:lastModifiedBy>
  <cp:revision>2</cp:revision>
  <dcterms:created xsi:type="dcterms:W3CDTF">2006-08-16T00:00:00Z</dcterms:created>
  <dcterms:modified xsi:type="dcterms:W3CDTF">2026-05-18T14:54:34Z</dcterms:modified>
  <dc:identifier>DAHJpvDDnlQ</dc:identifier>
</cp:coreProperties>
</file>